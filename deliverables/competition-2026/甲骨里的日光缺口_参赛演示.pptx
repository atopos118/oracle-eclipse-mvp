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dc3125c0fa401c" /><Relationship Type="http://schemas.openxmlformats.org/officeDocument/2006/relationships/extended-properties" Target="/docProps/app.xml" Id="Rd38b94052b684b02" /><Relationship Type="http://schemas.openxmlformats.org/officeDocument/2006/relationships/officeDocument" Target="/ppt/presentation.xml" Id="R00b7ae9a91f547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3d4a2af2aa44db"/>
  </p:sldMasterIdLst>
  <p:notesMasterIdLst>
    <p:notesMasterId xmlns:r="http://schemas.openxmlformats.org/officeDocument/2006/relationships" r:id="Rbf3a71e40a704207"/>
  </p:notesMasterIdLst>
  <p:sldIdLst>
    <p:sldId xmlns:r="http://schemas.openxmlformats.org/officeDocument/2006/relationships" id="256" r:id="R00236defcdb14434"/>
    <p:sldId xmlns:r="http://schemas.openxmlformats.org/officeDocument/2006/relationships" id="257" r:id="R613782d1d44a49e6"/>
    <p:sldId xmlns:r="http://schemas.openxmlformats.org/officeDocument/2006/relationships" id="258" r:id="R78889174c439468d"/>
    <p:sldId xmlns:r="http://schemas.openxmlformats.org/officeDocument/2006/relationships" id="259" r:id="R11685f7215634c6f"/>
    <p:sldId xmlns:r="http://schemas.openxmlformats.org/officeDocument/2006/relationships" id="260" r:id="Rb88d822cb80b49de"/>
    <p:sldId xmlns:r="http://schemas.openxmlformats.org/officeDocument/2006/relationships" id="261" r:id="R9f576d501326475f"/>
    <p:sldId xmlns:r="http://schemas.openxmlformats.org/officeDocument/2006/relationships" id="262" r:id="R8015a6934bdf4bcc"/>
    <p:sldId xmlns:r="http://schemas.openxmlformats.org/officeDocument/2006/relationships" id="263" r:id="Ra17b7b69afa8468d"/>
    <p:sldId xmlns:r="http://schemas.openxmlformats.org/officeDocument/2006/relationships" id="264" r:id="Rd0ea2078c2844af0"/>
    <p:sldId xmlns:r="http://schemas.openxmlformats.org/officeDocument/2006/relationships" id="265" r:id="R66220dc98f334ef7"/>
    <p:sldId xmlns:r="http://schemas.openxmlformats.org/officeDocument/2006/relationships" id="266" r:id="R43310a63206f497e"/>
    <p:sldId xmlns:r="http://schemas.openxmlformats.org/officeDocument/2006/relationships" id="267" r:id="R0294bf905fa94338"/>
    <p:sldId xmlns:r="http://schemas.openxmlformats.org/officeDocument/2006/relationships" id="268" r:id="Rcc547723865f47ec"/>
    <p:sldId xmlns:r="http://schemas.openxmlformats.org/officeDocument/2006/relationships" id="269" r:id="R9ba5b496417e4146"/>
    <p:sldId xmlns:r="http://schemas.openxmlformats.org/officeDocument/2006/relationships" id="270" r:id="Rb29a8bd637354d69"/>
    <p:sldId xmlns:r="http://schemas.openxmlformats.org/officeDocument/2006/relationships" id="271" r:id="Rce48e54b92584c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888989ac7d4bda" /><Relationship Type="http://schemas.openxmlformats.org/officeDocument/2006/relationships/slideMaster" Target="/ppt/slideMasters/slideMaster1.xml" Id="Rcd3d4a2af2aa44db" /><Relationship Type="http://schemas.openxmlformats.org/officeDocument/2006/relationships/notesMaster" Target="/ppt/notesMasters/notesMaster1.xml" Id="Rbf3a71e40a704207" /><Relationship Type="http://schemas.openxmlformats.org/officeDocument/2006/relationships/presProps" Target="/ppt/presProps.xml" Id="Rc817459a98154980" /><Relationship Type="http://schemas.openxmlformats.org/officeDocument/2006/relationships/tableStyles" Target="/ppt/tableStyles.xml" Id="R787fe491f14a4ee2" /><Relationship Type="http://schemas.openxmlformats.org/officeDocument/2006/relationships/slide" Target="/ppt/slides/slide1.xml" Id="R00236defcdb14434" /><Relationship Type="http://schemas.openxmlformats.org/officeDocument/2006/relationships/slide" Target="/ppt/slides/slide2.xml" Id="R613782d1d44a49e6" /><Relationship Type="http://schemas.openxmlformats.org/officeDocument/2006/relationships/slide" Target="/ppt/slides/slide3.xml" Id="R78889174c439468d" /><Relationship Type="http://schemas.openxmlformats.org/officeDocument/2006/relationships/slide" Target="/ppt/slides/slide4.xml" Id="R11685f7215634c6f" /><Relationship Type="http://schemas.openxmlformats.org/officeDocument/2006/relationships/slide" Target="/ppt/slides/slide5.xml" Id="Rb88d822cb80b49de" /><Relationship Type="http://schemas.openxmlformats.org/officeDocument/2006/relationships/slide" Target="/ppt/slides/slide6.xml" Id="R9f576d501326475f" /><Relationship Type="http://schemas.openxmlformats.org/officeDocument/2006/relationships/slide" Target="/ppt/slides/slide7.xml" Id="R8015a6934bdf4bcc" /><Relationship Type="http://schemas.openxmlformats.org/officeDocument/2006/relationships/slide" Target="/ppt/slides/slide8.xml" Id="Ra17b7b69afa8468d" /><Relationship Type="http://schemas.openxmlformats.org/officeDocument/2006/relationships/slide" Target="/ppt/slides/slide9.xml" Id="Rd0ea2078c2844af0" /><Relationship Type="http://schemas.openxmlformats.org/officeDocument/2006/relationships/slide" Target="/ppt/slides/slide10.xml" Id="R66220dc98f334ef7" /><Relationship Type="http://schemas.openxmlformats.org/officeDocument/2006/relationships/slide" Target="/ppt/slides/slide11.xml" Id="R43310a63206f497e" /><Relationship Type="http://schemas.openxmlformats.org/officeDocument/2006/relationships/slide" Target="/ppt/slides/slide12.xml" Id="R0294bf905fa94338" /><Relationship Type="http://schemas.openxmlformats.org/officeDocument/2006/relationships/slide" Target="/ppt/slides/slide13.xml" Id="Rcc547723865f47ec" /><Relationship Type="http://schemas.openxmlformats.org/officeDocument/2006/relationships/slide" Target="/ppt/slides/slide14.xml" Id="R9ba5b496417e4146" /><Relationship Type="http://schemas.openxmlformats.org/officeDocument/2006/relationships/slide" Target="/ppt/slides/slide15.xml" Id="Rb29a8bd637354d69" /><Relationship Type="http://schemas.openxmlformats.org/officeDocument/2006/relationships/slide" Target="/ppt/slides/slide16.xml" Id="Rce48e54b92584c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8f7682d07d4e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3aebdfd84b406a" /><Relationship Type="http://schemas.openxmlformats.org/officeDocument/2006/relationships/notesMaster" Target="/ppt/notesMasters/notesMaster1.xml" Id="Rc673a82fe11e4c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0c54936acd4383" /><Relationship Type="http://schemas.openxmlformats.org/officeDocument/2006/relationships/notesMaster" Target="/ppt/notesMasters/notesMaster1.xml" Id="R75f4c753bf4f4c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0c9ccf3b3345f2" /><Relationship Type="http://schemas.openxmlformats.org/officeDocument/2006/relationships/notesMaster" Target="/ppt/notesMasters/notesMaster1.xml" Id="Rca5c7b608a1048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3f65333f2a448d" /><Relationship Type="http://schemas.openxmlformats.org/officeDocument/2006/relationships/notesMaster" Target="/ppt/notesMasters/notesMaster1.xml" Id="R4e33633282d54b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1a570fa3724c5b" /><Relationship Type="http://schemas.openxmlformats.org/officeDocument/2006/relationships/notesMaster" Target="/ppt/notesMasters/notesMaster1.xml" Id="R5978d510946448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dec0e1b2a749aa" /><Relationship Type="http://schemas.openxmlformats.org/officeDocument/2006/relationships/notesMaster" Target="/ppt/notesMasters/notesMaster1.xml" Id="Rf284749f408449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8c0c14997244ca" /><Relationship Type="http://schemas.openxmlformats.org/officeDocument/2006/relationships/notesMaster" Target="/ppt/notesMasters/notesMaster1.xml" Id="R375724dcffa64a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b4fcb760354cc0" /><Relationship Type="http://schemas.openxmlformats.org/officeDocument/2006/relationships/notesMaster" Target="/ppt/notesMasters/notesMaster1.xml" Id="R4f9a69056be049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f7866dc08540f3" /><Relationship Type="http://schemas.openxmlformats.org/officeDocument/2006/relationships/notesMaster" Target="/ppt/notesMasters/notesMaster1.xml" Id="R3ed6cbc1eb004d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c8aa7cd4be4e5a" /><Relationship Type="http://schemas.openxmlformats.org/officeDocument/2006/relationships/notesMaster" Target="/ppt/notesMasters/notesMaster1.xml" Id="R7a7afd1252e246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dd1d6447154bc1" /><Relationship Type="http://schemas.openxmlformats.org/officeDocument/2006/relationships/notesMaster" Target="/ppt/notesMasters/notesMaster1.xml" Id="Rced0dca1f29a40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7e21c89ce84607" /><Relationship Type="http://schemas.openxmlformats.org/officeDocument/2006/relationships/notesMaster" Target="/ppt/notesMasters/notesMaster1.xml" Id="Rb6603a64bade43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1035bab14b49d5" /><Relationship Type="http://schemas.openxmlformats.org/officeDocument/2006/relationships/notesMaster" Target="/ppt/notesMasters/notesMaster1.xml" Id="R16b39334133a4c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ac58989de848d6" /><Relationship Type="http://schemas.openxmlformats.org/officeDocument/2006/relationships/notesMaster" Target="/ppt/notesMasters/notesMaster1.xml" Id="Raf8e32cde1fd48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d722ae60db48a1" /><Relationship Type="http://schemas.openxmlformats.org/officeDocument/2006/relationships/notesMaster" Target="/ppt/notesMasters/notesMaster1.xml" Id="R1818a0f2680c45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a31ed3ac8349d4" /><Relationship Type="http://schemas.openxmlformats.org/officeDocument/2006/relationships/notesMaster" Target="/ppt/notesMasters/notesMaster1.xml" Id="R0244c9092f4344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data/published-snapshot.json</a:t>
            </a:r>
          </a:p>
          <a:p xmlns:a="http://schemas.openxmlformats.org/drawingml/2006/main">
            <a:r>
              <a:t>source-materials/site-assets/siteasset-6d6226b61ada.png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来源：data/published-snapshot.json：项目说明与历史认识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来源：source-materials/site-assets：甲骨材料图像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docs/01-产品设计_MVP0.4.md</a:t>
            </a:r>
          </a:p>
          <a:p xmlns:a="http://schemas.openxmlformats.org/drawingml/2006/main">
            <a:r>
              <a:t>data/published-snapshot.json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来源：docs/01-产品设计_MVP0.4.md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来源：data/published-snapshot.json：boundaryStatement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docs/03-系统架构_MVP0.4.md</a:t>
            </a:r>
          </a:p>
          <a:p xmlns:a="http://schemas.openxmlformats.org/drawingml/2006/main">
            <a:r>
              <a:t>docs/04-开发计划_MVP0.4.md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来源：docs/03-系统架构_MVP0.4.md：逻辑架构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来源：docs/04-开发计划_MVP0.4.md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data/published-snapshot.json</a:t>
            </a:r>
          </a:p>
          <a:p xmlns:a="http://schemas.openxmlformats.org/drawingml/2006/main">
            <a:r>
              <a:t>assets/eclipse-mechanism.png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来源：data/published-snapshot.json：astronomy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来源：assets/eclipse-mechanism.png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docs/05-预期成果_MVP0.4.md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来源：README.md：当前资料进度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来源：docs/05-预期成果_MVP0.4.md：当前进度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docs/03-系统架构_MVP0.4.md</a:t>
            </a:r>
          </a:p>
          <a:p xmlns:a="http://schemas.openxmlformats.org/drawingml/2006/main">
            <a:r>
              <a:t>assets/evidence-oracle.png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来源：docs/03-系统架构_MVP0.4.md：四类存储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来源：assets/evidence-oracle.png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docs/03-系统架构_MVP0.4.md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来源：docs/03-系统架构_MVP0.4.md：百炼适配层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来源：README.md：百炼配置与数据边界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docs/01-产品设计_MVP0.4.md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来源：README.md：本机研究模式与公众部署模式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来源：docs/01-产品设计_MVP0.4.md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research/index.html</a:t>
            </a:r>
          </a:p>
          <a:p xmlns:a="http://schemas.openxmlformats.org/drawingml/2006/main">
            <a:r>
              <a:t>research/research.js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来源：README.md：研究工作台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来源：research/index.html与research/research.js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docs/05-预期成果_MVP0.4.md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来源：README.md：MVP 0.4输出能力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来源：docs/05-预期成果_MVP0.4.md：内容成果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evaluation目录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来源：README.md：当前资料进度与自动验证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来源：evaluation：25题百炼正式问题集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docs/03-系统架构_MVP0.4.md</a:t>
            </a:r>
          </a:p>
          <a:p xmlns:a="http://schemas.openxmlformats.org/drawingml/2006/main">
            <a:r>
              <a:t>tests/test_research_workflow.py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来源：docs/03-系统架构_MVP0.4.md：关键状态机与失效传播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来源：tests/test_research_workflow.py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docs/01-产品设计_MVP0.4.md</a:t>
            </a:r>
          </a:p>
          <a:p xmlns:a="http://schemas.openxmlformats.org/drawingml/2006/main">
            <a:r>
              <a:t>docs/03-系统架构_MVP0.4.md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来源：docs/01-产品设计_MVP0.4.md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来源：docs/03-系统架构_MVP0.4.md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docs/05-预期成果_MVP0.4.md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来源：README.md：下一步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来源：docs/05-预期成果_MVP0.4.md：当前进度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assets/hero-eclipse.png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来源：README.md：项目定位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来源：assets/hero-eclipse.png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ce0899af448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97bca6b4704e82" /><Relationship Type="http://schemas.openxmlformats.org/officeDocument/2006/relationships/slideLayout" Target="/ppt/slideLayouts/slideLayout1.xml" Id="Rd14917baaf3b4c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4917baaf3b4c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250cf2fa54e55" /><Relationship Type="http://schemas.openxmlformats.org/officeDocument/2006/relationships/image" Target="/ppt/media/image.png" Id="R9e0f7bbe5c9440ac" /><Relationship Type="http://schemas.openxmlformats.org/officeDocument/2006/relationships/image" Target="/ppt/media/image.svg" Id="R16d8830ebc9b4c03" /><Relationship Type="http://schemas.openxmlformats.org/officeDocument/2006/relationships/notesSlide" Target="/ppt/notesSlides/notesSlide1.xml" Id="R8cbbc481a59e49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5693873604309" /><Relationship Type="http://schemas.openxmlformats.org/officeDocument/2006/relationships/image" Target="/ppt/media/image2.png" Id="Ra9c9ad3d89c8476b" /><Relationship Type="http://schemas.openxmlformats.org/officeDocument/2006/relationships/image" Target="/ppt/media/image2.svg" Id="R6ae242688d8e4fe6" /><Relationship Type="http://schemas.openxmlformats.org/officeDocument/2006/relationships/image" Target="/ppt/media/image3.png" Id="Rbf66b84f07c24ea0" /><Relationship Type="http://schemas.openxmlformats.org/officeDocument/2006/relationships/notesSlide" Target="/ppt/notesSlides/notesSlide2.xml" Id="R75286dae9a2641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b4a1d97404e79" /><Relationship Type="http://schemas.openxmlformats.org/officeDocument/2006/relationships/image" Target="/ppt/media/image4.png" Id="Rd3e6d76403d0440b" /><Relationship Type="http://schemas.openxmlformats.org/officeDocument/2006/relationships/image" Target="/ppt/media/image3.svg" Id="Rf2a5509216d54fed" /><Relationship Type="http://schemas.openxmlformats.org/officeDocument/2006/relationships/notesSlide" Target="/ppt/notesSlides/notesSlide3.xml" Id="R16f14b183b6840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4274f8c8c4c5b" /><Relationship Type="http://schemas.openxmlformats.org/officeDocument/2006/relationships/image" Target="/ppt/media/image5.png" Id="R5f07a9406c6b449b" /><Relationship Type="http://schemas.openxmlformats.org/officeDocument/2006/relationships/image" Target="/ppt/media/image4.svg" Id="Rb3951ef3106647ec" /><Relationship Type="http://schemas.openxmlformats.org/officeDocument/2006/relationships/notesSlide" Target="/ppt/notesSlides/notesSlide4.xml" Id="Rb5adf1d137fb4f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335c35dd242ae" /><Relationship Type="http://schemas.openxmlformats.org/officeDocument/2006/relationships/image" Target="/ppt/media/image6.png" Id="R71c99c575ed547d5" /><Relationship Type="http://schemas.openxmlformats.org/officeDocument/2006/relationships/image" Target="/ppt/media/image5.svg" Id="R2e0876d644904883" /><Relationship Type="http://schemas.openxmlformats.org/officeDocument/2006/relationships/image" Target="/ppt/media/image7.png" Id="R66baf39f255f40ed" /><Relationship Type="http://schemas.openxmlformats.org/officeDocument/2006/relationships/notesSlide" Target="/ppt/notesSlides/notesSlide5.xml" Id="R26733a08ef084b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0c4816d8c4848" /><Relationship Type="http://schemas.openxmlformats.org/officeDocument/2006/relationships/image" Target="/ppt/media/image8.png" Id="R55e5d3a813584c0d" /><Relationship Type="http://schemas.openxmlformats.org/officeDocument/2006/relationships/image" Target="/ppt/media/image6.svg" Id="R83177eed0e434fd6" /><Relationship Type="http://schemas.openxmlformats.org/officeDocument/2006/relationships/notesSlide" Target="/ppt/notesSlides/notesSlide6.xml" Id="Rcc7b9094927146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f8600ed3d443e" /><Relationship Type="http://schemas.openxmlformats.org/officeDocument/2006/relationships/image" Target="/ppt/media/image9.png" Id="R22909c6b513140e7" /><Relationship Type="http://schemas.openxmlformats.org/officeDocument/2006/relationships/image" Target="/ppt/media/image7.svg" Id="R2fa7356565e348fc" /><Relationship Type="http://schemas.openxmlformats.org/officeDocument/2006/relationships/image" Target="/ppt/media/image10.png" Id="R7283a8c935f84dac" /><Relationship Type="http://schemas.openxmlformats.org/officeDocument/2006/relationships/notesSlide" Target="/ppt/notesSlides/notesSlide7.xml" Id="Re48c724efdb940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5d00bd0634676" /><Relationship Type="http://schemas.openxmlformats.org/officeDocument/2006/relationships/image" Target="/ppt/media/image11.png" Id="Re51dce9dd2de42c5" /><Relationship Type="http://schemas.openxmlformats.org/officeDocument/2006/relationships/image" Target="/ppt/media/image8.svg" Id="Rfd388d519c27430e" /><Relationship Type="http://schemas.openxmlformats.org/officeDocument/2006/relationships/notesSlide" Target="/ppt/notesSlides/notesSlide8.xml" Id="Re5ca23a4b81342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9fe89d36e4942" /><Relationship Type="http://schemas.openxmlformats.org/officeDocument/2006/relationships/image" Target="/ppt/media/image12.png" Id="R3451172cbebb409c" /><Relationship Type="http://schemas.openxmlformats.org/officeDocument/2006/relationships/image" Target="/ppt/media/image9.svg" Id="Rf9cf3e532f2e43fc" /><Relationship Type="http://schemas.openxmlformats.org/officeDocument/2006/relationships/notesSlide" Target="/ppt/notesSlides/notesSlide9.xml" Id="R087388a1917440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0e3129f9248b6" /><Relationship Type="http://schemas.openxmlformats.org/officeDocument/2006/relationships/image" Target="/ppt/media/image13.png" Id="R94422ea8f300463b" /><Relationship Type="http://schemas.openxmlformats.org/officeDocument/2006/relationships/image" Target="/ppt/media/image10.svg" Id="R0fad4a64a5114b08" /><Relationship Type="http://schemas.openxmlformats.org/officeDocument/2006/relationships/notesSlide" Target="/ppt/notesSlides/notesSlide10.xml" Id="R5e9575aab1c54d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16a7591ea40b4" /><Relationship Type="http://schemas.openxmlformats.org/officeDocument/2006/relationships/image" Target="/ppt/media/image14.png" Id="Rc6fcbfbc2d134c4f" /><Relationship Type="http://schemas.openxmlformats.org/officeDocument/2006/relationships/image" Target="/ppt/media/image11.svg" Id="R45eb254a372b4b8e" /><Relationship Type="http://schemas.openxmlformats.org/officeDocument/2006/relationships/notesSlide" Target="/ppt/notesSlides/notesSlide11.xml" Id="R6dabb1a0b6524b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f1c6951704e06" /><Relationship Type="http://schemas.openxmlformats.org/officeDocument/2006/relationships/image" Target="/ppt/media/image15.png" Id="R3a42a065901243bd" /><Relationship Type="http://schemas.openxmlformats.org/officeDocument/2006/relationships/image" Target="/ppt/media/image12.svg" Id="R061adf92c1b1414e" /><Relationship Type="http://schemas.openxmlformats.org/officeDocument/2006/relationships/chart" Target="/ppt/slides/charts/chart1.xml" Id="Rc04bcb1a66d4494e" /><Relationship Type="http://schemas.openxmlformats.org/officeDocument/2006/relationships/notesSlide" Target="/ppt/notesSlides/notesSlide12.xml" Id="R2c299e12da3b40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e1403f674401f" /><Relationship Type="http://schemas.openxmlformats.org/officeDocument/2006/relationships/image" Target="/ppt/media/image16.png" Id="Rc90407565fa84b1c" /><Relationship Type="http://schemas.openxmlformats.org/officeDocument/2006/relationships/image" Target="/ppt/media/image13.svg" Id="R726649c5ab1d4422" /><Relationship Type="http://schemas.openxmlformats.org/officeDocument/2006/relationships/notesSlide" Target="/ppt/notesSlides/notesSlide13.xml" Id="Rd991d230041442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5edd9a6c146ee" /><Relationship Type="http://schemas.openxmlformats.org/officeDocument/2006/relationships/image" Target="/ppt/media/image17.png" Id="Re9bd1c9661504adb" /><Relationship Type="http://schemas.openxmlformats.org/officeDocument/2006/relationships/image" Target="/ppt/media/image14.svg" Id="R9d377f5451244251" /><Relationship Type="http://schemas.openxmlformats.org/officeDocument/2006/relationships/notesSlide" Target="/ppt/notesSlides/notesSlide14.xml" Id="R2090a996a62b49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9455dbebd43a4" /><Relationship Type="http://schemas.openxmlformats.org/officeDocument/2006/relationships/image" Target="/ppt/media/image18.png" Id="R8120a956785c41d2" /><Relationship Type="http://schemas.openxmlformats.org/officeDocument/2006/relationships/image" Target="/ppt/media/image15.svg" Id="R6dbcb49d1a3445e1" /><Relationship Type="http://schemas.openxmlformats.org/officeDocument/2006/relationships/notesSlide" Target="/ppt/notesSlides/notesSlide15.xml" Id="Rc3c3f6306a9045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993963b474b85" /><Relationship Type="http://schemas.openxmlformats.org/officeDocument/2006/relationships/image" Target="/ppt/media/image19.png" Id="R4028e95fba0e4d21" /><Relationship Type="http://schemas.openxmlformats.org/officeDocument/2006/relationships/image" Target="/ppt/media/image16.svg" Id="Rd8f8cdf389424720" /><Relationship Type="http://schemas.openxmlformats.org/officeDocument/2006/relationships/image" Target="/ppt/media/image20.png" Id="Rc7635c2efb7e43af" /><Relationship Type="http://schemas.openxmlformats.org/officeDocument/2006/relationships/notesSlide" Target="/ppt/notesSlides/notesSlide16.xml" Id="R0a1b240b0d504d7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212B"/>
                </a:solidFill>
              </a:rPr>
              <a:t>当前完成的自动化与模型验证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212B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数量</c:v>
          </c:tx>
          <c:spPr>
            <a:solidFill xmlns:a="http://schemas.openxmlformats.org/drawingml/2006/main">
              <a:srgbClr val="2F6E63"/>
            </a:solidFill>
            <a:ln xmlns:a="http://schemas.openxmlformats.org/drawingml/2006/main" w="28575">
              <a:solidFill>
                <a:srgbClr val="2F6E63"/>
              </a:solidFill>
              <a:prstDash val="solid"/>
            </a:ln>
          </c:spPr>
          <c:cat>
            <c:strLit>
              <c:ptCount val="3"/>
              <c:pt idx="0">
                <c:v>自动测试</c:v>
              </c:pt>
              <c:pt idx="1">
                <c:v>百炼问题</c:v>
              </c:pt>
              <c:pt idx="2">
                <c:v>首轮通过</c:v>
              </c:pt>
            </c:strLit>
          </c:cat>
          <c:val>
            <c:numLit>
              <c:formatCode>General</c:formatCode>
              <c:ptCount val="3"/>
              <c:pt idx="0">
                <c:v>72</c:v>
              </c:pt>
              <c:pt idx="1">
                <c:v>25</c:v>
              </c:pt>
              <c:pt idx="2">
                <c:v>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2C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A7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9D2C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A75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un-line">
            <a:extLst xmlns:a="http://schemas.openxmlformats.org/drawingml/2006/main">
              <a:ext uri="{FF2B5EF4-FFF2-40B4-BE49-F238E27FC236}">
                <a16:creationId xmlns:a16="http://schemas.microsoft.com/office/drawing/2014/main" id="{EEF861E1-BDD8-49EA-AB19-BD32737C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76200" cy="544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f7bbe5c9440ac">
            <a:extLst>
              <a:ext uri="{96DAC541-7B7A-43D3-8B79-37D633B846F1}">
                <asvg:svgBlip xmlns:asvg="http://schemas.microsoft.com/office/drawing/2016/SVG/main" r:embed="R16d8830ebc9b4c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1550" y="8382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5F1DAFA-5FE5-4986-BF4F-961D5B6A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9906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FFFFF"/>
                </a:solidFill>
                <a:latin typeface="STSong"/>
                <a:ea typeface="STSong"/>
                <a:cs typeface="STSong"/>
              </a:defRPr>
            </a:pPr>
            <a:r>
              <a:rPr sz="4800" b="1">
                <a:solidFill>
                  <a:srgbClr val="FFFFFF"/>
                </a:solidFill>
                <a:latin typeface="STSong"/>
                <a:ea typeface="STSong"/>
                <a:cs typeface="STSong"/>
              </a:rPr>
              <a:t>甲骨里的日光缺口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7D3F93F-8F9B-4085-9487-F680068A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D2D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2DBD6"/>
                </a:solidFill>
                <a:latin typeface="Microsoft YaHei"/>
                <a:ea typeface="Microsoft YaHei"/>
                <a:cs typeface="Microsoft YaHei"/>
              </a:rPr>
              <a:t>基于 Qwen 的甲骨文日食记录多模态科学传播应用</a:t>
            </a:r>
          </a:p>
        </p:txBody>
      </p:sp>
      <p:sp>
        <p:nvSpPr>
          <p:cNvPr id="5" name="cover-note">
            <a:extLst xmlns:a="http://schemas.openxmlformats.org/drawingml/2006/main">
              <a:ext uri="{FF2B5EF4-FFF2-40B4-BE49-F238E27FC236}">
                <a16:creationId xmlns:a16="http://schemas.microsoft.com/office/drawing/2014/main" id="{28CB0EE5-58F2-4612-B75E-31BF8602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626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C79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993D"/>
                </a:solidFill>
                <a:latin typeface="Microsoft YaHei"/>
                <a:ea typeface="Microsoft YaHei"/>
                <a:cs typeface="Microsoft YaHei"/>
              </a:rPr>
              <a:t>基于已确认资料形成的可审核讲解</a:t>
            </a:r>
          </a:p>
        </p:txBody>
      </p:sp>
    </p:spTree>
    <p:extLst>
      <p:ext uri="{BB962C8B-B14F-4D97-AF65-F5344CB8AC3E}">
        <p14:creationId xmlns:p14="http://schemas.microsoft.com/office/powerpoint/2010/main" val="2037324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C84C9BA4-5686-4214-8421-A332773C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9ad3d89c8476b">
            <a:extLst>
              <a:ext uri="{96DAC541-7B7A-43D3-8B79-37D633B846F1}">
                <asvg:svgBlip xmlns:asvg="http://schemas.microsoft.com/office/drawing/2016/SVG/main" r:embed="R6ae242688d8e4f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006175-2058-42C6-BBC4-FD2967AD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一个天象，连接三千年前与今天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4B18D38B-DDBB-47F5-BFE5-F8C14B5B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先人把太阳的缺口刻进卜辞，我们把分散的研究证据转化为大众可以理解、追问和核验的知识。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28ECF79-8EFF-4F54-88C9-48C926D7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0292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文化价值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甲骨卜辞保存了商代观察异常天象、提出疑问并寻求回应的痕迹。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科学价值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现代天文学解释日食机制，古文字学帮助判断释文、年代与语境。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传播目标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让公众既看懂日食，也看见结论背后的证据边界。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6b84f07c24ea0"/>
          <a:srcRect xmlns:a="http://schemas.openxmlformats.org/drawingml/2006/main" l="0" t="29348" r="0" b="29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000250"/>
            <a:ext cx="5029200" cy="3352800"/>
          </a:xfrm>
          <a:prstGeom xmlns:a="http://schemas.openxmlformats.org/drawingml/2006/main" prst="roundRect">
            <a:avLst>
              <a:gd name="adj" fmla="val 198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F4BF6-B877-4835-AE28-D9BB2BA9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7350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项目资料中的甲骨材料图像，仅作参赛讲解展示</a:t>
            </a:r>
          </a:p>
        </p:txBody>
      </p:sp>
      <p:sp>
        <p:nvSpPr>
          <p:cNvPr id="8" name="citation-1">
            <a:extLst xmlns:a="http://schemas.openxmlformats.org/drawingml/2006/main">
              <a:ext uri="{FF2B5EF4-FFF2-40B4-BE49-F238E27FC236}">
                <a16:creationId xmlns:a16="http://schemas.microsoft.com/office/drawing/2014/main" id="{F09E08F8-E7A4-43B7-819D-21C9E3C5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资料依据：data/published-snapshot.json：项目说明与历史认识；source-materials/site-assets：甲骨材料图像</a:t>
            </a:r>
          </a:p>
        </p:txBody>
      </p:sp>
      <p:sp>
        <p:nvSpPr>
          <p:cNvPr id="9" name="page-1">
            <a:extLst xmlns:a="http://schemas.openxmlformats.org/drawingml/2006/main">
              <a:ext uri="{FF2B5EF4-FFF2-40B4-BE49-F238E27FC236}">
                <a16:creationId xmlns:a16="http://schemas.microsoft.com/office/drawing/2014/main" id="{AA671E21-9F4C-49C8-993E-66527CC8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8163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ule">
            <a:extLst xmlns:a="http://schemas.openxmlformats.org/drawingml/2006/main">
              <a:ext uri="{FF2B5EF4-FFF2-40B4-BE49-F238E27FC236}">
                <a16:creationId xmlns:a16="http://schemas.microsoft.com/office/drawing/2014/main" id="{C5A5704B-DE99-48F6-8029-A727BC42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6d76403d0440b">
            <a:extLst>
              <a:ext uri="{96DAC541-7B7A-43D3-8B79-37D633B846F1}">
                <asvg:svgBlip xmlns:asvg="http://schemas.microsoft.com/office/drawing/2016/SVG/main" r:embed="Rf2a5509216d54f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00CF24-EFD9-49AD-9A9C-C5BF3B83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难点不在找到一句话，而在可信地讲清楚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A3BCFE45-C27D-46E9-80C3-B477DDFD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一条日食卜辞可能同时面对文字残缺、释读分歧、断代争议和天文对应不确定。</a:t>
            </a:r>
          </a:p>
        </p:txBody>
      </p:sp>
      <p:sp>
        <p:nvSpPr>
          <p:cNvPr id="5" name="comparison-1">
            <a:extLst xmlns:a="http://schemas.openxmlformats.org/drawingml/2006/main">
              <a:ext uri="{FF2B5EF4-FFF2-40B4-BE49-F238E27FC236}">
                <a16:creationId xmlns:a16="http://schemas.microsoft.com/office/drawing/2014/main" id="{49BCFFED-8F18-4A13-8E37-97D725DA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238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C9D2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320F8-78B3-4975-BE9B-15CECE4C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A94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4235"/>
                </a:solidFill>
                <a:latin typeface="Microsoft YaHei"/>
                <a:ea typeface="Microsoft YaHei"/>
                <a:cs typeface="Microsoft YaHei"/>
              </a:rPr>
              <a:t>主要材料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23EC2FF-B317-4573-A9AF-88A21760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667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原始PDF可能是扫描页，文字层乱码或缺失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同一字形存在多种释读，不能合并成唯一结论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卜辞的贞问不等于已经得到固定的吉凶判断</a:t>
            </a:r>
          </a:p>
        </p:txBody>
      </p:sp>
      <p:sp>
        <p:nvSpPr>
          <p:cNvPr id="8" name="comparison-2">
            <a:extLst xmlns:a="http://schemas.openxmlformats.org/drawingml/2006/main">
              <a:ext uri="{FF2B5EF4-FFF2-40B4-BE49-F238E27FC236}">
                <a16:creationId xmlns:a16="http://schemas.microsoft.com/office/drawing/2014/main" id="{10A68A25-8D3A-43B8-BF99-71DC9CC9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5238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C9D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BA585-A389-438F-885B-2737D9CC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比较与边界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AF9A422F-7E1E-43BC-A4CE-74DB0058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4667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公元纪年对应需要地点、历法和天文计算共同约束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生成式内容若循环引用，会放大错误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公众表达需要简明，但不能牺牲证据强度</a:t>
            </a:r>
          </a:p>
        </p:txBody>
      </p:sp>
      <p:sp>
        <p:nvSpPr>
          <p:cNvPr id="11" name="citation-2">
            <a:extLst xmlns:a="http://schemas.openxmlformats.org/drawingml/2006/main">
              <a:ext uri="{FF2B5EF4-FFF2-40B4-BE49-F238E27FC236}">
                <a16:creationId xmlns:a16="http://schemas.microsoft.com/office/drawing/2014/main" id="{ACBE3D3A-C407-4DFA-A86E-6C2B4567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资料依据：docs/01-产品设计_MVP0.4.md；data/published-snapshot.json：boundaryStatement</a:t>
            </a:r>
          </a:p>
        </p:txBody>
      </p:sp>
      <p:sp>
        <p:nvSpPr>
          <p:cNvPr id="12" name="page-2">
            <a:extLst xmlns:a="http://schemas.openxmlformats.org/drawingml/2006/main">
              <a:ext uri="{FF2B5EF4-FFF2-40B4-BE49-F238E27FC236}">
                <a16:creationId xmlns:a16="http://schemas.microsoft.com/office/drawing/2014/main" id="{CB130CA8-4DD7-4404-89B3-4F55D4CE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6624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ule">
            <a:extLst xmlns:a="http://schemas.openxmlformats.org/drawingml/2006/main">
              <a:ext uri="{FF2B5EF4-FFF2-40B4-BE49-F238E27FC236}">
                <a16:creationId xmlns:a16="http://schemas.microsoft.com/office/drawing/2014/main" id="{030B4B3A-80B7-4BBB-848D-F60A2AEF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7a9406c6b449b">
            <a:extLst>
              <a:ext uri="{96DAC541-7B7A-43D3-8B79-37D633B846F1}">
                <asvg:svgBlip xmlns:asvg="http://schemas.microsoft.com/office/drawing/2016/SVG/main" r:embed="Rb3951ef3106647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7126F1-B090-4643-B0B8-375ADC04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我们的答案是一条可审计的研究传播闭环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E3B3FE8C-E068-4FC4-A9FA-108919C9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资料先确认，模型再生成；内容先审核，公众端再发布。</a:t>
            </a:r>
          </a:p>
        </p:txBody>
      </p:sp>
      <p:sp>
        <p:nvSpPr>
          <p:cNvPr id="5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35550DEA-1C84-4F5A-9C33-7711A2B8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5FEBAC84-4505-4E34-BBD2-8F405A97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cess-arrow-3">
            <a:extLst xmlns:a="http://schemas.openxmlformats.org/drawingml/2006/main">
              <a:ext uri="{FF2B5EF4-FFF2-40B4-BE49-F238E27FC236}">
                <a16:creationId xmlns:a16="http://schemas.microsoft.com/office/drawing/2014/main" id="{8B981AAB-2971-40E6-AC38-F95F5896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-arrow-4">
            <a:extLst xmlns:a="http://schemas.openxmlformats.org/drawingml/2006/main">
              <a:ext uri="{FF2B5EF4-FFF2-40B4-BE49-F238E27FC236}">
                <a16:creationId xmlns:a16="http://schemas.microsoft.com/office/drawing/2014/main" id="{7852596F-41C3-4569-B122-3A430C3C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2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527F7204-7FDE-4161-947B-7BCE43F8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AE45A-6D43-48BB-B787-6C48C0B5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A3372-9AD7-47A8-BD67-B669EAE2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资料汇入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5E9A0-568C-4D40-AA25-EE329A9A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PDF、网页、文本</a:t>
            </a:r>
          </a:p>
        </p:txBody>
      </p:sp>
      <p:sp>
        <p:nvSpPr>
          <p:cNvPr id="13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CE7C2301-EFDB-4015-8EE3-8C92FF62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BED09-211B-4483-9FAF-E6A15225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D82C0-F709-49FF-807C-502EC739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识别确认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DB312-34F8-41B0-9D67-6DDF9859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逐页OCR与质量门</a:t>
            </a:r>
          </a:p>
        </p:txBody>
      </p:sp>
      <p:sp>
        <p:nvSpPr>
          <p:cNvPr id="17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4F4784DA-ED6B-4256-9150-489203C0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86902-2879-4358-9560-7F1CE62A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2E141-0C62-4FEF-A56E-B39A61AD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资料问答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FE6AB-FD58-4FC4-9228-E4A5D095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选定来源与页码引用</a:t>
            </a:r>
          </a:p>
        </p:txBody>
      </p:sp>
      <p:sp>
        <p:nvSpPr>
          <p:cNvPr id="21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C7103DDE-979B-486D-9F97-8C162566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29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4A99B-5282-4984-A606-3EE297AF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AA9C4-A9B8-4CBF-A838-E6AA0F99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作品生成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F1A32-C65B-480C-A09E-1D2D09C5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草稿与来源关系</a:t>
            </a:r>
          </a:p>
        </p:txBody>
      </p:sp>
      <p:sp>
        <p:nvSpPr>
          <p:cNvPr id="25" name="process-node-5">
            <a:extLst xmlns:a="http://schemas.openxmlformats.org/drawingml/2006/main">
              <a:ext uri="{FF2B5EF4-FFF2-40B4-BE49-F238E27FC236}">
                <a16:creationId xmlns:a16="http://schemas.microsoft.com/office/drawing/2014/main" id="{02AB8B62-216B-4F25-8302-E29CE3EC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45D86F-1688-41CB-821F-06F90D1B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4CBDBF-209A-47E5-88B8-15426277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审核发布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CE7DF-D6D9-4219-9CAE-333AF716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稳定公众版本</a:t>
            </a:r>
          </a:p>
        </p:txBody>
      </p:sp>
      <p:sp>
        <p:nvSpPr>
          <p:cNvPr id="29" name="citation-3">
            <a:extLst xmlns:a="http://schemas.openxmlformats.org/drawingml/2006/main">
              <a:ext uri="{FF2B5EF4-FFF2-40B4-BE49-F238E27FC236}">
                <a16:creationId xmlns:a16="http://schemas.microsoft.com/office/drawing/2014/main" id="{7A525799-8198-4422-91F7-B4CD45F8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资料依据：docs/03-系统架构_MVP0.4.md：逻辑架构；docs/04-开发计划_MVP0.4.md</a:t>
            </a:r>
          </a:p>
        </p:txBody>
      </p:sp>
      <p:sp>
        <p:nvSpPr>
          <p:cNvPr id="30" name="page-3">
            <a:extLst xmlns:a="http://schemas.openxmlformats.org/drawingml/2006/main">
              <a:ext uri="{FF2B5EF4-FFF2-40B4-BE49-F238E27FC236}">
                <a16:creationId xmlns:a16="http://schemas.microsoft.com/office/drawing/2014/main" id="{09E3057D-0FCB-40EE-9B88-E1A3568C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12375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7B1C6C62-18A9-4C40-8C1B-FACB62D0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99c575ed547d5">
            <a:extLst>
              <a:ext uri="{96DAC541-7B7A-43D3-8B79-37D633B846F1}">
                <asvg:svgBlip xmlns:asvg="http://schemas.microsoft.com/office/drawing/2016/SVG/main" r:embed="R2e0876d6449048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742986-E3D3-49F4-AAA7-C4E210D4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先用可交互科学场景讲明白日食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06D34F99-6845-4651-8510-8C1E5BA9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日食发生在朔月附近，月球位于太阳与地球之间；轨道倾角决定了多数朔月并不会发生日食。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60BD2E6-F12C-48CD-B7D4-441D53AD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50292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公众端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使用 Three.js 展示太阳、月球、地球与月影关系，支持观察视角和过程交互。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知识层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区分日全食、日环食和日偏食，并说明不同地点看到的类型可能不同。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安全边界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不把示意图或生成图像当作甲骨原片和学术证据。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af39f255f40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000250"/>
            <a:ext cx="5029200" cy="3352800"/>
          </a:xfrm>
          <a:prstGeom xmlns:a="http://schemas.openxmlformats.org/drawingml/2006/main" prst="roundRect">
            <a:avLst>
              <a:gd name="adj" fmla="val 198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DDF36-1BBC-4ABD-8B55-B428C04F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日食机制传播示意，正式体验由 Three.js 实时渲染</a:t>
            </a:r>
          </a:p>
        </p:txBody>
      </p:sp>
      <p:sp>
        <p:nvSpPr>
          <p:cNvPr id="8" name="citation-4">
            <a:extLst xmlns:a="http://schemas.openxmlformats.org/drawingml/2006/main">
              <a:ext uri="{FF2B5EF4-FFF2-40B4-BE49-F238E27FC236}">
                <a16:creationId xmlns:a16="http://schemas.microsoft.com/office/drawing/2014/main" id="{876B7E30-CB6C-45F1-B7C9-68F7191E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资料依据：data/published-snapshot.json：astronomy；assets/eclipse-mechanism.png</a:t>
            </a:r>
          </a:p>
        </p:txBody>
      </p:sp>
      <p:sp>
        <p:nvSpPr>
          <p:cNvPr id="9" name="page-4">
            <a:extLst xmlns:a="http://schemas.openxmlformats.org/drawingml/2006/main">
              <a:ext uri="{FF2B5EF4-FFF2-40B4-BE49-F238E27FC236}">
                <a16:creationId xmlns:a16="http://schemas.microsoft.com/office/drawing/2014/main" id="{255B8C0F-AF64-404C-8406-351827FB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6183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ule">
            <a:extLst xmlns:a="http://schemas.openxmlformats.org/drawingml/2006/main">
              <a:ext uri="{FF2B5EF4-FFF2-40B4-BE49-F238E27FC236}">
                <a16:creationId xmlns:a16="http://schemas.microsoft.com/office/drawing/2014/main" id="{9000633C-DE87-4146-92AE-71D9C12F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5d3a813584c0d">
            <a:extLst>
              <a:ext uri="{96DAC541-7B7A-43D3-8B79-37D633B846F1}">
                <asvg:svgBlip xmlns:asvg="http://schemas.microsoft.com/office/drawing/2016/SVG/main" r:embed="R83177eed0e434f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6A3989-8706-465C-9436-4FAC03C3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七篇核心资料已经进入同一研究流程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BEC8CEE1-5256-4875-92F0-129C0D16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首期范围保持克制：7篇核心论文、81页资料，全部完成OCR重建和来源确认。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A53B717-54E4-4D65-98A3-430EFA4E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9715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6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7 / 7 </a:t>
            </a:r>
            <a:r>
              <a:rPr sz="16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核心资料已导入，保留题名、来源、文件指纹和私有原始PDF。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6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81页 </a:t>
            </a:r>
            <a:r>
              <a:rPr sz="16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逐页识别与页码原文已建立，可与PDF原页联动校核。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6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3条 </a:t>
            </a:r>
            <a:r>
              <a:rPr sz="16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《合集》11480、21298、33696已据首篇原刊录入，仍保留进一步复核边界。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6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不扩张 </a:t>
            </a:r>
            <a:r>
              <a:rPr sz="16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项目不做通用NotebookLM替代品，只解决甲骨日食研究传播闭环。</a:t>
            </a:r>
          </a:p>
        </p:txBody>
      </p:sp>
      <p:sp>
        <p:nvSpPr>
          <p:cNvPr id="6" name="citation-5">
            <a:extLst xmlns:a="http://schemas.openxmlformats.org/drawingml/2006/main">
              <a:ext uri="{FF2B5EF4-FFF2-40B4-BE49-F238E27FC236}">
                <a16:creationId xmlns:a16="http://schemas.microsoft.com/office/drawing/2014/main" id="{75F21EE3-CE7C-4B03-8034-47EF555B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资料依据：README.md：当前资料进度；docs/05-预期成果_MVP0.4.md：当前进度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EEA9CBEC-37FE-4D3F-9302-2FB0C093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4133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F7F56589-9645-4017-839D-220E76A9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09c6b513140e7">
            <a:extLst>
              <a:ext uri="{96DAC541-7B7A-43D3-8B79-37D633B846F1}">
                <asvg:svgBlip xmlns:asvg="http://schemas.microsoft.com/office/drawing/2016/SVG/main" r:embed="R2fa7356565e348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4698E8-F2F0-4EE5-BA58-4080C562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每一项公众结论都能回到资料页码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D94FD39C-87E8-4ABB-A187-96CB777E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系统把原始资料、逐页文本、审核事件和作品来源关系分层保存。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0F2EDD0-C4B7-46F2-9966-8DFA5D47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0292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证据库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保存私有PDF、解析单元和页码，只在研究端使用。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发布知识库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保存审核通过的释文、著录号、年代、观点与争议。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作品库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保存文章、图卡、音频、幻灯片等草稿与发布状态。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来源关系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记录资料、页码、模型、提示词版本和审核过程。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3a8c935f84dac"/>
          <a:srcRect xmlns:a="http://schemas.openxmlformats.org/drawingml/2006/main" l="0" t="23333" r="0" b="2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000250"/>
            <a:ext cx="5029200" cy="3352800"/>
          </a:xfrm>
          <a:prstGeom xmlns:a="http://schemas.openxmlformats.org/drawingml/2006/main" prst="roundRect">
            <a:avLst>
              <a:gd name="adj" fmla="val 198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03C4C-1D69-4454-B834-8D353F95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7350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传播示意图不替代甲骨原片；原始证据保留在私有研究端</a:t>
            </a:r>
          </a:p>
        </p:txBody>
      </p:sp>
      <p:sp>
        <p:nvSpPr>
          <p:cNvPr id="8" name="citation-6">
            <a:extLst xmlns:a="http://schemas.openxmlformats.org/drawingml/2006/main">
              <a:ext uri="{FF2B5EF4-FFF2-40B4-BE49-F238E27FC236}">
                <a16:creationId xmlns:a16="http://schemas.microsoft.com/office/drawing/2014/main" id="{5C9811D9-4217-4CFF-8053-5D4D4F67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资料依据：docs/03-系统架构_MVP0.4.md：四类存储；assets/evidence-oracle.png</a:t>
            </a:r>
          </a:p>
        </p:txBody>
      </p:sp>
      <p:sp>
        <p:nvSpPr>
          <p:cNvPr id="9" name="page-6">
            <a:extLst xmlns:a="http://schemas.openxmlformats.org/drawingml/2006/main">
              <a:ext uri="{FF2B5EF4-FFF2-40B4-BE49-F238E27FC236}">
                <a16:creationId xmlns:a16="http://schemas.microsoft.com/office/drawing/2014/main" id="{2CF7B32A-6066-4565-A969-8D470E41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489119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ule">
            <a:extLst xmlns:a="http://schemas.openxmlformats.org/drawingml/2006/main">
              <a:ext uri="{FF2B5EF4-FFF2-40B4-BE49-F238E27FC236}">
                <a16:creationId xmlns:a16="http://schemas.microsoft.com/office/drawing/2014/main" id="{1AB6DDF3-64E5-4C23-87CE-90EA2493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dce9dd2de42c5">
            <a:extLst>
              <a:ext uri="{96DAC541-7B7A-43D3-8B79-37D633B846F1}">
                <asvg:svgBlip xmlns:asvg="http://schemas.microsoft.com/office/drawing/2016/SVG/main" r:embed="Rfd388d519c2743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D9A704-7D76-4701-8448-94DA0BB0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AI只在选定证据和明确边界内工作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12C2A407-784D-42FD-97AF-25E174D6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百炼负责理解、生成和多模态输出，但不能越过资料确认与人工审核。</a:t>
            </a:r>
          </a:p>
        </p:txBody>
      </p:sp>
      <p:sp>
        <p:nvSpPr>
          <p:cNvPr id="5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C49DAEAB-DDD7-4722-8005-21BB5362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BC802A84-C902-48FD-B6CA-9CF56B13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cess-arrow-3">
            <a:extLst xmlns:a="http://schemas.openxmlformats.org/drawingml/2006/main">
              <a:ext uri="{FF2B5EF4-FFF2-40B4-BE49-F238E27FC236}">
                <a16:creationId xmlns:a16="http://schemas.microsoft.com/office/drawing/2014/main" id="{12BA408B-3E55-4957-ACE7-685F2FA2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-arrow-4">
            <a:extLst xmlns:a="http://schemas.openxmlformats.org/drawingml/2006/main">
              <a:ext uri="{FF2B5EF4-FFF2-40B4-BE49-F238E27FC236}">
                <a16:creationId xmlns:a16="http://schemas.microsoft.com/office/drawing/2014/main" id="{1FC7B94F-782D-4750-A6B0-276C206D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2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64FB1A96-EC84-4093-A8EF-1F9EF21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30930-1374-44A7-8FEA-E488CB04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F55F5-98B2-417B-8C58-19529D9A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选择资料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6BC90-9F7E-4A4B-B487-8261C686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仅限已确认来源</a:t>
            </a:r>
          </a:p>
        </p:txBody>
      </p:sp>
      <p:sp>
        <p:nvSpPr>
          <p:cNvPr id="13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4FE2EA1E-E9A8-45F7-B3F1-D10F23E7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81E91-5987-4A89-958B-AD78AE63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E8D16-534E-46F8-9F8D-5F67017E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检索片段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7F3F2-72AD-44BD-8244-55DB6984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最小必要页码文本</a:t>
            </a:r>
          </a:p>
        </p:txBody>
      </p:sp>
      <p:sp>
        <p:nvSpPr>
          <p:cNvPr id="17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497ABAF3-AFB4-4F1F-967E-883AAEB8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34B9D-FA03-4DF0-8EA0-57200166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783B1-59E9-4337-B38D-86CB07FE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模型生成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40C5A-E3BD-4CFD-AD7C-2198CC2C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问答或作品草稿</a:t>
            </a:r>
          </a:p>
        </p:txBody>
      </p:sp>
      <p:sp>
        <p:nvSpPr>
          <p:cNvPr id="21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E9929B5F-0F6A-4A0B-8558-5CDD1109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29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23197-8290-4E92-8809-5459E2FB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734AE-2E11-410B-89B0-D53B819D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FF5C5-55D0-40C1-A00E-CD9600FF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编辑、批准或驳回</a:t>
            </a:r>
          </a:p>
        </p:txBody>
      </p:sp>
      <p:sp>
        <p:nvSpPr>
          <p:cNvPr id="25" name="process-node-5">
            <a:extLst xmlns:a="http://schemas.openxmlformats.org/drawingml/2006/main">
              <a:ext uri="{FF2B5EF4-FFF2-40B4-BE49-F238E27FC236}">
                <a16:creationId xmlns:a16="http://schemas.microsoft.com/office/drawing/2014/main" id="{1205C1AE-5313-4EE5-A633-6D370293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5BB97-92CA-4787-B46D-296A4005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2EB6D1-2758-4517-9B29-C2A0B2A7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发布版本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777FBE-88B5-4031-92CF-12616386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公众端稳定读取</a:t>
            </a:r>
          </a:p>
        </p:txBody>
      </p:sp>
      <p:sp>
        <p:nvSpPr>
          <p:cNvPr id="29" name="citation-7">
            <a:extLst xmlns:a="http://schemas.openxmlformats.org/drawingml/2006/main">
              <a:ext uri="{FF2B5EF4-FFF2-40B4-BE49-F238E27FC236}">
                <a16:creationId xmlns:a16="http://schemas.microsoft.com/office/drawing/2014/main" id="{BC66615B-E212-4B0D-8A04-6D81AA79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资料依据：docs/03-系统架构_MVP0.4.md：百炼适配层；README.md：百炼配置与数据边界</a:t>
            </a:r>
          </a:p>
        </p:txBody>
      </p:sp>
      <p:sp>
        <p:nvSpPr>
          <p:cNvPr id="30" name="page-7">
            <a:extLst xmlns:a="http://schemas.openxmlformats.org/drawingml/2006/main">
              <a:ext uri="{FF2B5EF4-FFF2-40B4-BE49-F238E27FC236}">
                <a16:creationId xmlns:a16="http://schemas.microsoft.com/office/drawing/2014/main" id="{C08F2330-1295-4051-9C59-A1897852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844048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ule">
            <a:extLst xmlns:a="http://schemas.openxmlformats.org/drawingml/2006/main">
              <a:ext uri="{FF2B5EF4-FFF2-40B4-BE49-F238E27FC236}">
                <a16:creationId xmlns:a16="http://schemas.microsoft.com/office/drawing/2014/main" id="{06172115-C59E-4AE2-BCB9-6D3194E1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1172cbebb409c">
            <a:extLst>
              <a:ext uri="{96DAC541-7B7A-43D3-8B79-37D633B846F1}">
                <asvg:svgBlip xmlns:asvg="http://schemas.microsoft.com/office/drawing/2016/SVG/main" r:embed="Rf9cf3e532f2e43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F2DE0C-42F7-496D-8940-000AE580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公众站与研究工作台共享同一事实口径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48FE1035-B319-4279-BC6A-3C769368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研究工作台负责形成可信内容，公众站只读取当前发布版本。</a:t>
            </a:r>
          </a:p>
        </p:txBody>
      </p:sp>
      <p:sp>
        <p:nvSpPr>
          <p:cNvPr id="5" name="comparison-1">
            <a:extLst xmlns:a="http://schemas.openxmlformats.org/drawingml/2006/main">
              <a:ext uri="{FF2B5EF4-FFF2-40B4-BE49-F238E27FC236}">
                <a16:creationId xmlns:a16="http://schemas.microsoft.com/office/drawing/2014/main" id="{831C72C3-CDA5-4D84-911B-FD74A984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238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C9D2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19B1B-D47C-4AB7-B74C-D8B630B6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A94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4235"/>
                </a:solidFill>
                <a:latin typeface="Microsoft YaHei"/>
                <a:ea typeface="Microsoft YaHei"/>
                <a:cs typeface="Microsoft YaHei"/>
              </a:rPr>
              <a:t>主要材料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C506930-3222-4B84-ABEC-7609448B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667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公众站：日食科学互动、甲骨记录、研究成果与公众问答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公众站：不公开原始PDF、未审核资料和作品草稿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公众站：所有栏目由研究工作台统一编排和发布</a:t>
            </a:r>
          </a:p>
        </p:txBody>
      </p:sp>
      <p:sp>
        <p:nvSpPr>
          <p:cNvPr id="8" name="comparison-2">
            <a:extLst xmlns:a="http://schemas.openxmlformats.org/drawingml/2006/main">
              <a:ext uri="{FF2B5EF4-FFF2-40B4-BE49-F238E27FC236}">
                <a16:creationId xmlns:a16="http://schemas.microsoft.com/office/drawing/2014/main" id="{5BE242A1-15AC-483E-B14F-2BF43498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5238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C9D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8DD44-E8A6-4D2A-B53F-187D5D53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比较与边界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347CFF3-761D-4715-9361-84DE893B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4667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研究工作台：资料导入、逐页OCR、原页校核和资料问答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研究工作台：20类输出、在线编辑、审核与版本管理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研究工作台：本机访问、账号登录和私有媒体存储</a:t>
            </a:r>
          </a:p>
        </p:txBody>
      </p:sp>
      <p:sp>
        <p:nvSpPr>
          <p:cNvPr id="11" name="citation-8">
            <a:extLst xmlns:a="http://schemas.openxmlformats.org/drawingml/2006/main">
              <a:ext uri="{FF2B5EF4-FFF2-40B4-BE49-F238E27FC236}">
                <a16:creationId xmlns:a16="http://schemas.microsoft.com/office/drawing/2014/main" id="{35A94C2D-6658-44F2-92EC-A0D3F1F2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资料依据：README.md：本机研究模式与公众部署模式；docs/01-产品设计_MVP0.4.md</a:t>
            </a:r>
          </a:p>
        </p:txBody>
      </p:sp>
      <p:sp>
        <p:nvSpPr>
          <p:cNvPr id="12" name="page-8">
            <a:extLst xmlns:a="http://schemas.openxmlformats.org/drawingml/2006/main">
              <a:ext uri="{FF2B5EF4-FFF2-40B4-BE49-F238E27FC236}">
                <a16:creationId xmlns:a16="http://schemas.microsoft.com/office/drawing/2014/main" id="{C995B2DB-3F08-4148-8FFB-E2247ABD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762524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ule">
            <a:extLst xmlns:a="http://schemas.openxmlformats.org/drawingml/2006/main">
              <a:ext uri="{FF2B5EF4-FFF2-40B4-BE49-F238E27FC236}">
                <a16:creationId xmlns:a16="http://schemas.microsoft.com/office/drawing/2014/main" id="{F74EE355-A557-474F-A304-026DDFBD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22ea8f300463b">
            <a:extLst>
              <a:ext uri="{96DAC541-7B7A-43D3-8B79-37D633B846F1}">
                <asvg:svgBlip xmlns:asvg="http://schemas.microsoft.com/office/drawing/2016/SVG/main" r:embed="R0fad4a64a5114b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C41323-408B-4284-9411-97B5DB23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研究过程被做成一条可操作的工作流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88248CC2-396C-4B0E-968E-C708424A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上传、识别、校核、提问、生成、审核和发布都在同一工作台完成。</a:t>
            </a:r>
          </a:p>
        </p:txBody>
      </p:sp>
      <p:sp>
        <p:nvSpPr>
          <p:cNvPr id="5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664FF34D-C56F-4C29-972B-853A08BF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2EEB22E5-EF65-4961-96A4-779AD084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cess-arrow-3">
            <a:extLst xmlns:a="http://schemas.openxmlformats.org/drawingml/2006/main">
              <a:ext uri="{FF2B5EF4-FFF2-40B4-BE49-F238E27FC236}">
                <a16:creationId xmlns:a16="http://schemas.microsoft.com/office/drawing/2014/main" id="{8EC4A72D-FACB-415C-BADE-48FF9F83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-arrow-4">
            <a:extLst xmlns:a="http://schemas.openxmlformats.org/drawingml/2006/main">
              <a:ext uri="{FF2B5EF4-FFF2-40B4-BE49-F238E27FC236}">
                <a16:creationId xmlns:a16="http://schemas.microsoft.com/office/drawing/2014/main" id="{D577611D-862E-40B6-B55C-C67AA297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2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9F67F6C3-2360-4CBC-8608-F230C894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5E812-12E5-4C14-8008-788535D5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772A3-CE85-4240-BFF9-2DD6BA0E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资料库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5DDF5-6837-49BD-8E4F-36BB55B1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导入与原页校核</a:t>
            </a:r>
          </a:p>
        </p:txBody>
      </p:sp>
      <p:sp>
        <p:nvSpPr>
          <p:cNvPr id="13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30860B92-3E1D-4C46-8ACB-C8F1629F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5A419-76A4-4337-945D-B422D82A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709C4-FECD-43CB-BC29-2F9642A0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资料问答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B9F84-F748-4093-A322-0CCBDBAE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选源与页码引用</a:t>
            </a:r>
          </a:p>
        </p:txBody>
      </p:sp>
      <p:sp>
        <p:nvSpPr>
          <p:cNvPr id="17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A2C506DB-02A5-4EF1-9284-6A7F2C6F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BB2FC-9BC3-46B1-824C-52117507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AA1D9-7B1F-42F6-9BD1-6C401B32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输出工作室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2B153-F74C-4DB8-9A15-5105AF0C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生成并在线编辑</a:t>
            </a:r>
          </a:p>
        </p:txBody>
      </p:sp>
      <p:sp>
        <p:nvSpPr>
          <p:cNvPr id="21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BD6E121F-53FB-45AD-904D-17FD7F40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29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29C54-29BE-48CA-B1DC-A32FE5CF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3CE41-9EC0-48E1-9762-81AD41BF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审核发布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9BDC6-15CD-40BC-B7D7-EE60C901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批准与版本说明</a:t>
            </a:r>
          </a:p>
        </p:txBody>
      </p:sp>
      <p:sp>
        <p:nvSpPr>
          <p:cNvPr id="25" name="process-node-5">
            <a:extLst xmlns:a="http://schemas.openxmlformats.org/drawingml/2006/main">
              <a:ext uri="{FF2B5EF4-FFF2-40B4-BE49-F238E27FC236}">
                <a16:creationId xmlns:a16="http://schemas.microsoft.com/office/drawing/2014/main" id="{43E264B9-9AA6-4D19-9F7C-E999E7E2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F3E26C-A37C-410E-81DB-B54A70F6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284B4-23B8-482D-B5B1-A3F4A835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公众展示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E86963-EDB4-42B9-8E5C-DC57352B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稳定版本即时生效</a:t>
            </a:r>
          </a:p>
        </p:txBody>
      </p:sp>
      <p:sp>
        <p:nvSpPr>
          <p:cNvPr id="29" name="citation-9">
            <a:extLst xmlns:a="http://schemas.openxmlformats.org/drawingml/2006/main">
              <a:ext uri="{FF2B5EF4-FFF2-40B4-BE49-F238E27FC236}">
                <a16:creationId xmlns:a16="http://schemas.microsoft.com/office/drawing/2014/main" id="{E14C4210-109E-4E9A-9F81-8B7E60CF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资料依据：README.md：研究工作台；research/index.html与research/research.js</a:t>
            </a:r>
          </a:p>
        </p:txBody>
      </p:sp>
      <p:sp>
        <p:nvSpPr>
          <p:cNvPr id="30" name="page-9">
            <a:extLst xmlns:a="http://schemas.openxmlformats.org/drawingml/2006/main">
              <a:ext uri="{FF2B5EF4-FFF2-40B4-BE49-F238E27FC236}">
                <a16:creationId xmlns:a16="http://schemas.microsoft.com/office/drawing/2014/main" id="{AC12B98E-8C5F-4609-BBC9-C1CF5561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36081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ule">
            <a:extLst xmlns:a="http://schemas.openxmlformats.org/drawingml/2006/main">
              <a:ext uri="{FF2B5EF4-FFF2-40B4-BE49-F238E27FC236}">
                <a16:creationId xmlns:a16="http://schemas.microsoft.com/office/drawing/2014/main" id="{4F5FC4E2-32F4-4837-8655-FB3F7986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cbfbc2d134c4f">
            <a:extLst>
              <a:ext uri="{96DAC541-7B7A-43D3-8B79-37D633B846F1}">
                <asvg:svgBlip xmlns:asvg="http://schemas.microsoft.com/office/drawing/2016/SVG/main" r:embed="R45eb254a372b4b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3446F8-738B-4151-9966-23B7BEE6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一次研究可以转化为多种可审核作品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5132C304-2A54-4A05-B584-F233EEAE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20类输出覆盖研究整理、公众传播、课堂使用和多媒体制作。</a:t>
            </a:r>
          </a:p>
        </p:txBody>
      </p:sp>
      <p:sp>
        <p:nvSpPr>
          <p:cNvPr id="5" name="comparison-1">
            <a:extLst xmlns:a="http://schemas.openxmlformats.org/drawingml/2006/main">
              <a:ext uri="{FF2B5EF4-FFF2-40B4-BE49-F238E27FC236}">
                <a16:creationId xmlns:a16="http://schemas.microsoft.com/office/drawing/2014/main" id="{271EBF1E-5438-495D-861A-E1188FED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238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C9D2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181CC-BCF7-4090-BF6A-0E05FDC6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A94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4235"/>
                </a:solidFill>
                <a:latin typeface="Microsoft YaHei"/>
                <a:ea typeface="Microsoft YaHei"/>
                <a:cs typeface="Microsoft YaHei"/>
              </a:rPr>
              <a:t>主要材料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95E02C1-44EC-4003-9229-8270851A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667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首版重点：甲骨日食记录表、观点争议对照、大众讲解稿、音频导览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媒体输出：科普图卡、讲解幻灯片、视频制作包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研究表达：白板、思维导图、时间线、证据卡片</a:t>
            </a:r>
          </a:p>
        </p:txBody>
      </p:sp>
      <p:sp>
        <p:nvSpPr>
          <p:cNvPr id="8" name="comparison-2">
            <a:extLst xmlns:a="http://schemas.openxmlformats.org/drawingml/2006/main">
              <a:ext uri="{FF2B5EF4-FFF2-40B4-BE49-F238E27FC236}">
                <a16:creationId xmlns:a16="http://schemas.microsoft.com/office/drawing/2014/main" id="{6F4FBD32-4D62-485D-AEDD-4025CB24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5238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C9D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6802D-71C7-4621-AC02-6427AAD1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比较与边界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B1916055-1535-413A-84DF-682F172D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4667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记录表支持在线表格编辑，文字作品支持图文编辑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音频导览导出百炼中文WAV，幻灯片导出可编辑PPTX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所有输出先是草稿，批准后才能进入下一公众版本</a:t>
            </a:r>
          </a:p>
        </p:txBody>
      </p:sp>
      <p:sp>
        <p:nvSpPr>
          <p:cNvPr id="11" name="citation-10">
            <a:extLst xmlns:a="http://schemas.openxmlformats.org/drawingml/2006/main">
              <a:ext uri="{FF2B5EF4-FFF2-40B4-BE49-F238E27FC236}">
                <a16:creationId xmlns:a16="http://schemas.microsoft.com/office/drawing/2014/main" id="{1367F366-A1BF-4CC0-AE39-31D8122B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资料依据：README.md：MVP 0.4输出能力；docs/05-预期成果_MVP0.4.md：内容成果</a:t>
            </a:r>
          </a:p>
        </p:txBody>
      </p:sp>
      <p:sp>
        <p:nvSpPr>
          <p:cNvPr id="12" name="page-10">
            <a:extLst xmlns:a="http://schemas.openxmlformats.org/drawingml/2006/main">
              <a:ext uri="{FF2B5EF4-FFF2-40B4-BE49-F238E27FC236}">
                <a16:creationId xmlns:a16="http://schemas.microsoft.com/office/drawing/2014/main" id="{D8C8778D-8306-4C2A-9093-8E836719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566570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717DF8F0-22DC-465F-A754-AADA3F37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2a065901243bd">
            <a:extLst>
              <a:ext uri="{96DAC541-7B7A-43D3-8B79-37D633B846F1}">
                <asvg:svgBlip xmlns:asvg="http://schemas.microsoft.com/office/drawing/2016/SVG/main" r:embed="R061adf92c1b141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99785C-9F38-4F87-A811-4C737C37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核心能力已经通过量化验证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6A05FBAA-A190-47C5-8E43-9228A345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验证覆盖研究流程、访问边界、媒体导出、来源失效和公众问答。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E10AFFF-4428-4377-958E-1F64E7F6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4290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72项自动测试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覆盖资料、作品、发布、媒体和安全边界。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25题百炼问题集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首轮全部由qwen-plus回答。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23题自动通过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发现的两项检索问题已经修复，等待完整复跑与人工签署。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476750" y="1905000"/>
          <a:ext xmlns:a="http://schemas.openxmlformats.org/drawingml/2006/main" cx="695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4bcb1a66d4494e"/>
          </a:graphicData>
        </a:graphic>
      </p:graphicFrame>
      <p:sp>
        <p:nvSpPr>
          <p:cNvPr id="7" name="citation-11">
            <a:extLst xmlns:a="http://schemas.openxmlformats.org/drawingml/2006/main">
              <a:ext uri="{FF2B5EF4-FFF2-40B4-BE49-F238E27FC236}">
                <a16:creationId xmlns:a16="http://schemas.microsoft.com/office/drawing/2014/main" id="{C440DF3F-720F-4D12-81AC-54B73773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资料依据：README.md：当前资料进度与自动验证；evaluation：25题百炼正式问题集</a:t>
            </a:r>
          </a:p>
        </p:txBody>
      </p:sp>
      <p:sp>
        <p:nvSpPr>
          <p:cNvPr id="8" name="page-11">
            <a:extLst xmlns:a="http://schemas.openxmlformats.org/drawingml/2006/main">
              <a:ext uri="{FF2B5EF4-FFF2-40B4-BE49-F238E27FC236}">
                <a16:creationId xmlns:a16="http://schemas.microsoft.com/office/drawing/2014/main" id="{CF8D409C-77ED-4A1F-B055-9A8DF79E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94469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ule">
            <a:extLst xmlns:a="http://schemas.openxmlformats.org/drawingml/2006/main">
              <a:ext uri="{FF2B5EF4-FFF2-40B4-BE49-F238E27FC236}">
                <a16:creationId xmlns:a16="http://schemas.microsoft.com/office/drawing/2014/main" id="{01EA2DBB-CB63-4B56-8756-07C16F2E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407565fa84b1c">
            <a:extLst>
              <a:ext uri="{96DAC541-7B7A-43D3-8B79-37D633B846F1}">
                <asvg:svgBlip xmlns:asvg="http://schemas.microsoft.com/office/drawing/2016/SVG/main" r:embed="R726649c5ab1d44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4BDC57-3CCB-47B1-944B-F1A8A7A5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可信不是一句口号，而是系统机制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7BDCC4D3-0F95-419E-BC63-525246AE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内容更新、删除或重新解析后，依赖作品会自动失效并要求重新审核。</a:t>
            </a:r>
          </a:p>
        </p:txBody>
      </p:sp>
      <p:sp>
        <p:nvSpPr>
          <p:cNvPr id="5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13A124EC-1024-407E-A704-55069479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305F4882-7391-44D1-AD2C-04FD089C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cess-arrow-3">
            <a:extLst xmlns:a="http://schemas.openxmlformats.org/drawingml/2006/main">
              <a:ext uri="{FF2B5EF4-FFF2-40B4-BE49-F238E27FC236}">
                <a16:creationId xmlns:a16="http://schemas.microsoft.com/office/drawing/2014/main" id="{CAC17B91-576A-4B44-9EE3-1B5413D5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-arrow-4">
            <a:extLst xmlns:a="http://schemas.openxmlformats.org/drawingml/2006/main">
              <a:ext uri="{FF2B5EF4-FFF2-40B4-BE49-F238E27FC236}">
                <a16:creationId xmlns:a16="http://schemas.microsoft.com/office/drawing/2014/main" id="{6992AFC1-C208-4F7A-BB06-14DD3694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20" y="3171825"/>
            <a:ext cx="133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6E70D364-EC0B-46AA-B394-E6B24599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ED22F-2330-4DD7-9D0D-7B2564FC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0D3AC-B4C7-48EB-9772-A744B4D4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质量门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077C9-7195-4186-B8EF-9548617A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乱码与低质量文本阻断</a:t>
            </a:r>
          </a:p>
        </p:txBody>
      </p:sp>
      <p:sp>
        <p:nvSpPr>
          <p:cNvPr id="13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839F2083-B79C-4D44-906C-A2E0F3E4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CA57B-7B6D-4D29-83D0-33558AC6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46930-F6F9-4CED-A684-B053C535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来源关系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ADD16-F709-41E8-A42B-BED628D4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结论关联资料页码</a:t>
            </a:r>
          </a:p>
        </p:txBody>
      </p:sp>
      <p:sp>
        <p:nvSpPr>
          <p:cNvPr id="17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FB20BE89-8FDC-423A-B818-21358058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5FFAA-F025-42AC-B025-B714DED5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2EE64-6AC8-43DC-8222-575ACFA9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审核门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B8C363-4C97-435C-9E08-E38EB540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草稿不能直接公开</a:t>
            </a:r>
          </a:p>
        </p:txBody>
      </p:sp>
      <p:sp>
        <p:nvSpPr>
          <p:cNvPr id="21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D7CBFFF3-BC4F-4B35-88E1-DAEDF6C6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29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F1DB4-3E61-464D-9078-EC8BBA64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A3FE8-12C5-4005-867F-4C68DCEA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失效传播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4F543A-9A8A-4D96-9E80-0BCDB70D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来源变化触发复核</a:t>
            </a:r>
          </a:p>
        </p:txBody>
      </p:sp>
      <p:sp>
        <p:nvSpPr>
          <p:cNvPr id="25" name="process-node-5">
            <a:extLst xmlns:a="http://schemas.openxmlformats.org/drawingml/2006/main">
              <a:ext uri="{FF2B5EF4-FFF2-40B4-BE49-F238E27FC236}">
                <a16:creationId xmlns:a16="http://schemas.microsoft.com/office/drawing/2014/main" id="{76B6D4D9-AF25-45F6-B4BA-B1F5BD7F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2486025"/>
            <a:ext cx="2011680" cy="16764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11430">
            <a:solidFill>
              <a:srgbClr val="C9D2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4B21EE-35EA-4171-BC86-EEB7E6B5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6289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FD3022-43D7-4F04-A13A-7E403FB8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981325"/>
            <a:ext cx="17068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版本发布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34DFFB-FB0A-402A-BC28-7BDEF2B9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3514725"/>
            <a:ext cx="17068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历史可追溯与恢复</a:t>
            </a:r>
          </a:p>
        </p:txBody>
      </p:sp>
      <p:sp>
        <p:nvSpPr>
          <p:cNvPr id="29" name="citation-12">
            <a:extLst xmlns:a="http://schemas.openxmlformats.org/drawingml/2006/main">
              <a:ext uri="{FF2B5EF4-FFF2-40B4-BE49-F238E27FC236}">
                <a16:creationId xmlns:a16="http://schemas.microsoft.com/office/drawing/2014/main" id="{87B52AD8-4CBD-42FC-8D34-72F89D3D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资料依据：docs/03-系统架构_MVP0.4.md：关键状态机与失效传播；tests/test_research_workflow.py</a:t>
            </a:r>
          </a:p>
        </p:txBody>
      </p:sp>
      <p:sp>
        <p:nvSpPr>
          <p:cNvPr id="30" name="page-12">
            <a:extLst xmlns:a="http://schemas.openxmlformats.org/drawingml/2006/main">
              <a:ext uri="{FF2B5EF4-FFF2-40B4-BE49-F238E27FC236}">
                <a16:creationId xmlns:a16="http://schemas.microsoft.com/office/drawing/2014/main" id="{C04A93C7-EB9E-41CC-95A4-72D3C910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646376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ule">
            <a:extLst xmlns:a="http://schemas.openxmlformats.org/drawingml/2006/main">
              <a:ext uri="{FF2B5EF4-FFF2-40B4-BE49-F238E27FC236}">
                <a16:creationId xmlns:a16="http://schemas.microsoft.com/office/drawing/2014/main" id="{0BDAE4DD-06E7-41AA-9CD8-873813D8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d1c9661504adb">
            <a:extLst>
              <a:ext uri="{96DAC541-7B7A-43D3-8B79-37D633B846F1}">
                <asvg:svgBlip xmlns:asvg="http://schemas.microsoft.com/office/drawing/2016/SVG/main" r:embed="R9d377f54512442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70A5E5-CD82-42CB-9198-FB6FD4F9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创新点在跨学科内容与AI治理同时落地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953D1DEC-5AC2-4FBE-AA42-17AFDFF0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项目既不是静态文献站，也不是无边界聊天机器人。</a:t>
            </a:r>
          </a:p>
        </p:txBody>
      </p:sp>
      <p:sp>
        <p:nvSpPr>
          <p:cNvPr id="5" name="comparison-1">
            <a:extLst xmlns:a="http://schemas.openxmlformats.org/drawingml/2006/main">
              <a:ext uri="{FF2B5EF4-FFF2-40B4-BE49-F238E27FC236}">
                <a16:creationId xmlns:a16="http://schemas.microsoft.com/office/drawing/2014/main" id="{44047A91-ED10-4DCA-8C00-8194FF18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238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C9D2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CC3FC-1D05-4664-A08C-AA32E840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A94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4235"/>
                </a:solidFill>
                <a:latin typeface="Microsoft YaHei"/>
                <a:ea typeface="Microsoft YaHei"/>
                <a:cs typeface="Microsoft YaHei"/>
              </a:rPr>
              <a:t>主要材料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9912FC9-864C-49BF-BF30-70DF59D4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667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文化传播：把甲骨材料、古文字释读和日食科学放进同一叙事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沉浸体验：Three.js科学互动与图卡、音频、幻灯片协同呈现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多受众转译：面向大众、学生和研究者调整表达密度</a:t>
            </a:r>
          </a:p>
        </p:txBody>
      </p:sp>
      <p:sp>
        <p:nvSpPr>
          <p:cNvPr id="8" name="comparison-2">
            <a:extLst xmlns:a="http://schemas.openxmlformats.org/drawingml/2006/main">
              <a:ext uri="{FF2B5EF4-FFF2-40B4-BE49-F238E27FC236}">
                <a16:creationId xmlns:a16="http://schemas.microsoft.com/office/drawing/2014/main" id="{7496617D-1120-45C9-A6B8-387F2127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5238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C9D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AD906-634E-4CB1-9F27-CDB90EE2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比较与边界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FAF2BAB-A7F3-453E-9EB7-A8BD841D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4667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可信生成：模型只使用选定且确认的资料片段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人机协作：在线编辑、人工批准和显式发布版本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可审计治理：记录模型、提示词、页码、审核与变更影响</a:t>
            </a:r>
          </a:p>
        </p:txBody>
      </p:sp>
      <p:sp>
        <p:nvSpPr>
          <p:cNvPr id="11" name="citation-13">
            <a:extLst xmlns:a="http://schemas.openxmlformats.org/drawingml/2006/main">
              <a:ext uri="{FF2B5EF4-FFF2-40B4-BE49-F238E27FC236}">
                <a16:creationId xmlns:a16="http://schemas.microsoft.com/office/drawing/2014/main" id="{A58B1963-D9B3-41DE-A161-A8E499BD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资料依据：docs/01-产品设计_MVP0.4.md；docs/03-系统架构_MVP0.4.md</a:t>
            </a:r>
          </a:p>
        </p:txBody>
      </p:sp>
      <p:sp>
        <p:nvSpPr>
          <p:cNvPr id="12" name="page-13">
            <a:extLst xmlns:a="http://schemas.openxmlformats.org/drawingml/2006/main">
              <a:ext uri="{FF2B5EF4-FFF2-40B4-BE49-F238E27FC236}">
                <a16:creationId xmlns:a16="http://schemas.microsoft.com/office/drawing/2014/main" id="{CC997786-3BAF-4942-BEB3-DA558F66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18440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ule">
            <a:extLst xmlns:a="http://schemas.openxmlformats.org/drawingml/2006/main">
              <a:ext uri="{FF2B5EF4-FFF2-40B4-BE49-F238E27FC236}">
                <a16:creationId xmlns:a16="http://schemas.microsoft.com/office/drawing/2014/main" id="{F8E8340C-FFB5-4A40-9EE6-320EC815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0a956785c41d2">
            <a:extLst>
              <a:ext uri="{96DAC541-7B7A-43D3-8B79-37D633B846F1}">
                <asvg:svgBlip xmlns:asvg="http://schemas.microsoft.com/office/drawing/2016/SVG/main" r:embed="R6dbcb49d1a3445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22F0C4-FF2F-4954-BB44-EF862743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我们明确展示完成项，也诚实保留待验证项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E3AC398B-2D1E-4D51-AC4E-78818E93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系统闭环已经跑通，下一阶段聚焦专家复核、真实用户测试与参赛呈现。</a:t>
            </a:r>
          </a:p>
        </p:txBody>
      </p:sp>
      <p:sp>
        <p:nvSpPr>
          <p:cNvPr id="5" name="comparison-1">
            <a:extLst xmlns:a="http://schemas.openxmlformats.org/drawingml/2006/main">
              <a:ext uri="{FF2B5EF4-FFF2-40B4-BE49-F238E27FC236}">
                <a16:creationId xmlns:a16="http://schemas.microsoft.com/office/drawing/2014/main" id="{78137EF9-9210-4802-9C1A-D888FE5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238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C9D2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8B3F5-E807-4FB8-9A66-DD244770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A94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4235"/>
                </a:solidFill>
                <a:latin typeface="Microsoft YaHei"/>
                <a:ea typeface="Microsoft YaHei"/>
                <a:cs typeface="Microsoft YaHei"/>
              </a:rPr>
              <a:t>主要材料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EF0C7AC-DF7A-4AD0-A8F0-1D6BD007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667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已完成：7篇资料、81页OCR、来源确认和稳定发布流程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已完成：公众站、研究工作台、百炼适配和20类输出能力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已完成：PPTX、PNG、WAV、视频制作包等实际文件导出</a:t>
            </a:r>
          </a:p>
        </p:txBody>
      </p:sp>
      <p:sp>
        <p:nvSpPr>
          <p:cNvPr id="8" name="comparison-2">
            <a:extLst xmlns:a="http://schemas.openxmlformats.org/drawingml/2006/main">
              <a:ext uri="{FF2B5EF4-FFF2-40B4-BE49-F238E27FC236}">
                <a16:creationId xmlns:a16="http://schemas.microsoft.com/office/drawing/2014/main" id="{A1DCF74D-1253-40E9-B8B0-A0689EB6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5238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4EBE7"/>
          </a:solidFill>
          <a:ln xmlns:a="http://schemas.openxmlformats.org/drawingml/2006/main" w="9525">
            <a:solidFill>
              <a:srgbClr val="C9D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86380-D776-43E7-8081-038436F3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比较与边界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AF92D347-4894-4F43-911C-A37449F9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4667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待完成：古文字学与天文学指导教师正式复核签署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待完成：至少5名真实用户测试与SUS数据汇总</a:t>
            </a:r>
          </a:p>
          <a:p xmlns:a="http://schemas.openxmlformats.org/drawingml/2006/main">
            <a:pPr marL="24" indent="-13">
              <a:lnSpc>
                <a:spcPct val="115000"/>
              </a:lnSpc>
              <a:spcAft>
                <a:spcPts val="11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正在推进：参赛PPT/PDF、3分钟讲解稿和演示视频</a:t>
            </a:r>
          </a:p>
        </p:txBody>
      </p:sp>
      <p:sp>
        <p:nvSpPr>
          <p:cNvPr id="11" name="citation-14">
            <a:extLst xmlns:a="http://schemas.openxmlformats.org/drawingml/2006/main">
              <a:ext uri="{FF2B5EF4-FFF2-40B4-BE49-F238E27FC236}">
                <a16:creationId xmlns:a16="http://schemas.microsoft.com/office/drawing/2014/main" id="{6B9E3AAF-EF58-49E6-8807-7CC873D6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资料依据：README.md：下一步；docs/05-预期成果_MVP0.4.md：当前进度</a:t>
            </a:r>
          </a:p>
        </p:txBody>
      </p:sp>
      <p:sp>
        <p:nvSpPr>
          <p:cNvPr id="12" name="page-14">
            <a:extLst xmlns:a="http://schemas.openxmlformats.org/drawingml/2006/main">
              <a:ext uri="{FF2B5EF4-FFF2-40B4-BE49-F238E27FC236}">
                <a16:creationId xmlns:a16="http://schemas.microsoft.com/office/drawing/2014/main" id="{5D93F40F-F83E-4441-9D18-B8DA9FA5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000266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CEF053CA-FD27-4F41-81CE-0827B7D6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E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8e95fba0e4d21">
            <a:extLst>
              <a:ext uri="{96DAC541-7B7A-43D3-8B79-37D633B846F1}">
                <asvg:svgBlip xmlns:asvg="http://schemas.microsoft.com/office/drawing/2016/SVG/main" r:embed="Rd8f8cdf3894247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762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385766-A3C9-4497-B41B-9A968388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212B"/>
                </a:solidFill>
                <a:latin typeface="STSong"/>
                <a:ea typeface="STSong"/>
                <a:cs typeface="STSong"/>
              </a:defRPr>
            </a:pPr>
            <a:r>
              <a:rPr sz="3600" b="1">
                <a:solidFill>
                  <a:srgbClr val="17212B"/>
                </a:solidFill>
                <a:latin typeface="STSong"/>
                <a:ea typeface="STSong"/>
                <a:cs typeface="STSong"/>
              </a:rPr>
              <a:t>让三千年前的仰望，成为今天可验证的知识</a:t>
            </a:r>
          </a:p>
        </p:txBody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71858959-C2C5-4244-8114-ACC40BD4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E63"/>
                </a:solidFill>
                <a:latin typeface="Microsoft YaHei"/>
                <a:ea typeface="Microsoft YaHei"/>
                <a:cs typeface="Microsoft YaHei"/>
              </a:rPr>
              <a:t>甲骨里的日光缺口，不只讲一次日食，更展示文化遗产如何在AI时代被理解、核验与传播。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721A07E-A775-4E32-8F29-6CC4E9C3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0292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面向公众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看得懂、愿意探索、知道哪些结论仍有争议。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面向研究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资料私有、页码可追、生成可审、变更可查。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12"/>
              </a:spcAft>
              <a:buNone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面向未来 </a:t>
            </a: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以一个小而完整的样本，验证AI赋能中华优秀传统文化传播的可行路径。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35c2efb7e43af"/>
          <a:srcRect xmlns:a="http://schemas.openxmlformats.org/drawingml/2006/main" l="7813" t="0" r="78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000250"/>
            <a:ext cx="5029200" cy="3352800"/>
          </a:xfrm>
          <a:prstGeom xmlns:a="http://schemas.openxmlformats.org/drawingml/2006/main" prst="roundRect">
            <a:avLst>
              <a:gd name="adj" fmla="val 198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10C70-D281-4AEC-BD2E-D6D4711D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7350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《甲骨里的日光缺口》项目主题视觉</a:t>
            </a:r>
          </a:p>
        </p:txBody>
      </p:sp>
      <p:sp>
        <p:nvSpPr>
          <p:cNvPr id="8" name="citation-15">
            <a:extLst xmlns:a="http://schemas.openxmlformats.org/drawingml/2006/main">
              <a:ext uri="{FF2B5EF4-FFF2-40B4-BE49-F238E27FC236}">
                <a16:creationId xmlns:a16="http://schemas.microsoft.com/office/drawing/2014/main" id="{76102170-F667-4180-B58E-ED2BAC19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A75"/>
                </a:solidFill>
                <a:latin typeface="Microsoft YaHei"/>
                <a:ea typeface="Microsoft YaHei"/>
                <a:cs typeface="Microsoft YaHei"/>
              </a:rPr>
              <a:t>资料依据：README.md：项目定位；assets/hero-eclipse.png</a:t>
            </a:r>
          </a:p>
        </p:txBody>
      </p:sp>
      <p:sp>
        <p:nvSpPr>
          <p:cNvPr id="9" name="page-15">
            <a:extLst xmlns:a="http://schemas.openxmlformats.org/drawingml/2006/main">
              <a:ext uri="{FF2B5EF4-FFF2-40B4-BE49-F238E27FC236}">
                <a16:creationId xmlns:a16="http://schemas.microsoft.com/office/drawing/2014/main" id="{4EB5ED09-4C49-4344-BC3E-574355FD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A94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A9423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449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2026-07-25T02:22:05.9570000Z</dcterms:created>
  <dcterms:modified xsi:type="dcterms:W3CDTF">2026-07-25T02:22:05.9570000Z</dcterms:modified>
</coreProperties>
</file>