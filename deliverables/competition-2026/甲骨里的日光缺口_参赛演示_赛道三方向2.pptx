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a119e108544129" /><Relationship Type="http://schemas.openxmlformats.org/officeDocument/2006/relationships/extended-properties" Target="/docProps/app.xml" Id="Rf048120269af470d" /><Relationship Type="http://schemas.openxmlformats.org/officeDocument/2006/relationships/officeDocument" Target="/ppt/presentation.xml" Id="R3720d8e66a184a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a332444fb74d96"/>
  </p:sldMasterIdLst>
  <p:notesMasterIdLst>
    <p:notesMasterId xmlns:r="http://schemas.openxmlformats.org/officeDocument/2006/relationships" r:id="Rc8033fcc95e544d6"/>
  </p:notesMasterIdLst>
  <p:sldIdLst>
    <p:sldId xmlns:r="http://schemas.openxmlformats.org/officeDocument/2006/relationships" id="256" r:id="R22c7195f00fc46f9"/>
    <p:sldId xmlns:r="http://schemas.openxmlformats.org/officeDocument/2006/relationships" id="257" r:id="R233df6dfea654c11"/>
    <p:sldId xmlns:r="http://schemas.openxmlformats.org/officeDocument/2006/relationships" id="258" r:id="R302a198b8a77417c"/>
    <p:sldId xmlns:r="http://schemas.openxmlformats.org/officeDocument/2006/relationships" id="259" r:id="Rb1327762ff2b43f0"/>
    <p:sldId xmlns:r="http://schemas.openxmlformats.org/officeDocument/2006/relationships" id="260" r:id="R4dea74c0e0554103"/>
    <p:sldId xmlns:r="http://schemas.openxmlformats.org/officeDocument/2006/relationships" id="261" r:id="Rf8dc5f8dc8894992"/>
    <p:sldId xmlns:r="http://schemas.openxmlformats.org/officeDocument/2006/relationships" id="262" r:id="R95a479b61ede4695"/>
    <p:sldId xmlns:r="http://schemas.openxmlformats.org/officeDocument/2006/relationships" id="263" r:id="Rba71437b79c64763"/>
    <p:sldId xmlns:r="http://schemas.openxmlformats.org/officeDocument/2006/relationships" id="264" r:id="R809a297089114ad3"/>
    <p:sldId xmlns:r="http://schemas.openxmlformats.org/officeDocument/2006/relationships" id="265" r:id="R46b1fbf81c684df1"/>
    <p:sldId xmlns:r="http://schemas.openxmlformats.org/officeDocument/2006/relationships" id="266" r:id="R218f32c923414a9a"/>
    <p:sldId xmlns:r="http://schemas.openxmlformats.org/officeDocument/2006/relationships" id="267" r:id="R398a2741fa6b4ea8"/>
    <p:sldId xmlns:r="http://schemas.openxmlformats.org/officeDocument/2006/relationships" id="268" r:id="Rc2b081d399474a54"/>
    <p:sldId xmlns:r="http://schemas.openxmlformats.org/officeDocument/2006/relationships" id="269" r:id="R860a35e014054ff6"/>
    <p:sldId xmlns:r="http://schemas.openxmlformats.org/officeDocument/2006/relationships" id="270" r:id="Rd2811bda0dec4bf3"/>
    <p:sldId xmlns:r="http://schemas.openxmlformats.org/officeDocument/2006/relationships" id="271" r:id="Rd53ef125183c49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a8acce3a024df2" /><Relationship Type="http://schemas.openxmlformats.org/officeDocument/2006/relationships/slideMaster" Target="/ppt/slideMasters/slideMaster1.xml" Id="R8da332444fb74d96" /><Relationship Type="http://schemas.openxmlformats.org/officeDocument/2006/relationships/notesMaster" Target="/ppt/notesMasters/notesMaster1.xml" Id="Rc8033fcc95e544d6" /><Relationship Type="http://schemas.openxmlformats.org/officeDocument/2006/relationships/presProps" Target="/ppt/presProps.xml" Id="R3e2f8e4990f64996" /><Relationship Type="http://schemas.openxmlformats.org/officeDocument/2006/relationships/tableStyles" Target="/ppt/tableStyles.xml" Id="Rad8e10c19cb94e7b" /><Relationship Type="http://schemas.openxmlformats.org/officeDocument/2006/relationships/slide" Target="/ppt/slides/slide1.xml" Id="R22c7195f00fc46f9" /><Relationship Type="http://schemas.openxmlformats.org/officeDocument/2006/relationships/slide" Target="/ppt/slides/slide2.xml" Id="R233df6dfea654c11" /><Relationship Type="http://schemas.openxmlformats.org/officeDocument/2006/relationships/slide" Target="/ppt/slides/slide3.xml" Id="R302a198b8a77417c" /><Relationship Type="http://schemas.openxmlformats.org/officeDocument/2006/relationships/slide" Target="/ppt/slides/slide4.xml" Id="Rb1327762ff2b43f0" /><Relationship Type="http://schemas.openxmlformats.org/officeDocument/2006/relationships/slide" Target="/ppt/slides/slide5.xml" Id="R4dea74c0e0554103" /><Relationship Type="http://schemas.openxmlformats.org/officeDocument/2006/relationships/slide" Target="/ppt/slides/slide6.xml" Id="Rf8dc5f8dc8894992" /><Relationship Type="http://schemas.openxmlformats.org/officeDocument/2006/relationships/slide" Target="/ppt/slides/slide7.xml" Id="R95a479b61ede4695" /><Relationship Type="http://schemas.openxmlformats.org/officeDocument/2006/relationships/slide" Target="/ppt/slides/slide8.xml" Id="Rba71437b79c64763" /><Relationship Type="http://schemas.openxmlformats.org/officeDocument/2006/relationships/slide" Target="/ppt/slides/slide9.xml" Id="R809a297089114ad3" /><Relationship Type="http://schemas.openxmlformats.org/officeDocument/2006/relationships/slide" Target="/ppt/slides/slide10.xml" Id="R46b1fbf81c684df1" /><Relationship Type="http://schemas.openxmlformats.org/officeDocument/2006/relationships/slide" Target="/ppt/slides/slide11.xml" Id="R218f32c923414a9a" /><Relationship Type="http://schemas.openxmlformats.org/officeDocument/2006/relationships/slide" Target="/ppt/slides/slide12.xml" Id="R398a2741fa6b4ea8" /><Relationship Type="http://schemas.openxmlformats.org/officeDocument/2006/relationships/slide" Target="/ppt/slides/slide13.xml" Id="Rc2b081d399474a54" /><Relationship Type="http://schemas.openxmlformats.org/officeDocument/2006/relationships/slide" Target="/ppt/slides/slide14.xml" Id="R860a35e014054ff6" /><Relationship Type="http://schemas.openxmlformats.org/officeDocument/2006/relationships/slide" Target="/ppt/slides/slide15.xml" Id="Rd2811bda0dec4bf3" /><Relationship Type="http://schemas.openxmlformats.org/officeDocument/2006/relationships/slide" Target="/ppt/slides/slide16.xml" Id="Rd53ef125183c49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da7cbf9bfe4e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5d3f3bb56848ef" /><Relationship Type="http://schemas.openxmlformats.org/officeDocument/2006/relationships/notesMaster" Target="/ppt/notesMasters/notesMaster1.xml" Id="R766bd30c49b84a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89dab59ff24ad5" /><Relationship Type="http://schemas.openxmlformats.org/officeDocument/2006/relationships/notesMaster" Target="/ppt/notesMasters/notesMaster1.xml" Id="Ra427082e97bb4d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17af84fd7f414d" /><Relationship Type="http://schemas.openxmlformats.org/officeDocument/2006/relationships/notesMaster" Target="/ppt/notesMasters/notesMaster1.xml" Id="Re1f83142d8554d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5164d05f154efb" /><Relationship Type="http://schemas.openxmlformats.org/officeDocument/2006/relationships/notesMaster" Target="/ppt/notesMasters/notesMaster1.xml" Id="R3103d72e831d49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46a060884c4c07" /><Relationship Type="http://schemas.openxmlformats.org/officeDocument/2006/relationships/notesMaster" Target="/ppt/notesMasters/notesMaster1.xml" Id="R97c0e9e2609040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c93e199145463d" /><Relationship Type="http://schemas.openxmlformats.org/officeDocument/2006/relationships/notesMaster" Target="/ppt/notesMasters/notesMaster1.xml" Id="Ref49dbeeb4af40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740af523474337" /><Relationship Type="http://schemas.openxmlformats.org/officeDocument/2006/relationships/notesMaster" Target="/ppt/notesMasters/notesMaster1.xml" Id="Rd75513a84b0d4f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175d6ad3c34e6d" /><Relationship Type="http://schemas.openxmlformats.org/officeDocument/2006/relationships/notesMaster" Target="/ppt/notesMasters/notesMaster1.xml" Id="Rc5a214eea9eb45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4f3a35b14342b4" /><Relationship Type="http://schemas.openxmlformats.org/officeDocument/2006/relationships/notesMaster" Target="/ppt/notesMasters/notesMaster1.xml" Id="Rbc3b6ee2ae824f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3bad1f9cd2448e" /><Relationship Type="http://schemas.openxmlformats.org/officeDocument/2006/relationships/notesMaster" Target="/ppt/notesMasters/notesMaster1.xml" Id="R7f35b294d0b54a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69c876cd734b8e" /><Relationship Type="http://schemas.openxmlformats.org/officeDocument/2006/relationships/notesMaster" Target="/ppt/notesMasters/notesMaster1.xml" Id="R9d6dab28089b45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5c2b671f76446d" /><Relationship Type="http://schemas.openxmlformats.org/officeDocument/2006/relationships/notesMaster" Target="/ppt/notesMasters/notesMaster1.xml" Id="R6aba31f3659e4f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24ff5645644394" /><Relationship Type="http://schemas.openxmlformats.org/officeDocument/2006/relationships/notesMaster" Target="/ppt/notesMasters/notesMaster1.xml" Id="R78a31cc8504743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e643d6ead04436" /><Relationship Type="http://schemas.openxmlformats.org/officeDocument/2006/relationships/notesMaster" Target="/ppt/notesMasters/notesMaster1.xml" Id="R4cd28719e6384f5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ab3095d567a46e6" /><Relationship Type="http://schemas.openxmlformats.org/officeDocument/2006/relationships/notesMaster" Target="/ppt/notesMasters/notesMaster1.xml" Id="R84369a3c300f401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8c38789df9448f" /><Relationship Type="http://schemas.openxmlformats.org/officeDocument/2006/relationships/notesMaster" Target="/ppt/notesMasters/notesMaster1.xml" Id="R370291e91c314e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assets/hero-eclipse.png</a:t>
            </a:r>
          </a:p>
          <a:p xmlns:a="http://schemas.openxmlformats.org/drawingml/2006/main">
            <a:r>
              <a:t>https://research-figure-guide.nature.com/covers/</a:t>
            </a:r>
          </a:p>
          <a:p xmlns:a="http://schemas.openxmlformats.org/drawingml/2006/main">
            <a:r>
              <a:t>https://www.nature.com/natastron/volumes/10/issues/1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比赛赛道三方向2说明（用户提供）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https://www.science.org/blogs/vis</a:t>
            </a:r>
          </a:p>
          <a:p xmlns:a="http://schemas.openxmlformats.org/drawingml/2006/main">
            <a:r>
              <a:t>https://www.science.org/content/blog-post/best-science-graphics-2023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docs/01-产品设计_MVP0.4.md</a:t>
            </a:r>
          </a:p>
          <a:p xmlns:a="http://schemas.openxmlformats.org/drawingml/2006/main">
            <a:r>
              <a:t>data/published-snapshot.json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docs/01-产品设计_MVP0.4.md</a:t>
            </a:r>
          </a:p>
          <a:p xmlns:a="http://schemas.openxmlformats.org/drawingml/2006/main">
            <a:r>
              <a:t>ocr_pipeline.py</a:t>
            </a:r>
          </a:p>
          <a:p xmlns:a="http://schemas.openxmlformats.org/drawingml/2006/main">
            <a:r>
              <a:t>text_quality.py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docs/03-系统架构_MVP0.4.md</a:t>
            </a:r>
          </a:p>
          <a:p xmlns:a="http://schemas.openxmlformats.org/drawingml/2006/main">
            <a:r>
              <a:t>docs/04-开发计划_MVP0.4.md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index.html#science</a:t>
            </a:r>
          </a:p>
          <a:p xmlns:a="http://schemas.openxmlformats.org/drawingml/2006/main">
            <a:r>
              <a:t>eclipse-three.js</a:t>
            </a:r>
          </a:p>
          <a:p xmlns:a="http://schemas.openxmlformats.org/drawingml/2006/main">
            <a:r>
              <a:t>assets/eclipse-mechanism.png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index.html#oracle</a:t>
            </a:r>
          </a:p>
          <a:p xmlns:a="http://schemas.openxmlformats.org/drawingml/2006/main">
            <a:r>
              <a:t>data/published-snapshot.json</a:t>
            </a:r>
          </a:p>
          <a:p xmlns:a="http://schemas.openxmlformats.org/drawingml/2006/main">
            <a:r>
              <a:t>assets/evidence-oracle.png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README.md（MVP 0.4 输出能力）</a:t>
            </a:r>
          </a:p>
          <a:p xmlns:a="http://schemas.openxmlformats.org/drawingml/2006/main">
            <a:r>
              <a:t>docs/05-预期成果_MVP0.4.md</a:t>
            </a:r>
          </a:p>
          <a:p xmlns:a="http://schemas.openxmlformats.org/drawingml/2006/main">
            <a:r>
              <a:t>https://github.com/dwzhu-pku/PaperBanana</a:t>
            </a:r>
          </a:p>
          <a:p xmlns:a="http://schemas.openxmlformats.org/drawingml/2006/main">
            <a:r>
              <a:t>https://github.com/HaozheZhao/Crafter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research_store.py</a:t>
            </a:r>
          </a:p>
          <a:p xmlns:a="http://schemas.openxmlformats.org/drawingml/2006/main">
            <a:r>
              <a:t>snapshot_manager.py</a:t>
            </a:r>
          </a:p>
          <a:p xmlns:a="http://schemas.openxmlformats.org/drawingml/2006/main">
            <a:r>
              <a:t>tests/test_research_workflow.py</a:t>
            </a:r>
          </a:p>
          <a:p xmlns:a="http://schemas.openxmlformats.org/drawingml/2006/main">
            <a:r>
              <a:t>比赛赛道三方向2说明（用户提供）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bailian_adapter.py</a:t>
            </a:r>
          </a:p>
          <a:p xmlns:a="http://schemas.openxmlformats.org/drawingml/2006/main">
            <a:r>
              <a:t>ocr_pipeline.py</a:t>
            </a:r>
          </a:p>
          <a:p xmlns:a="http://schemas.openxmlformats.org/drawingml/2006/main">
            <a:r>
              <a:t>media_exports.py</a:t>
            </a:r>
          </a:p>
          <a:p xmlns:a="http://schemas.openxmlformats.org/drawingml/2006/main">
            <a:r>
              <a:t>docs/03-系统架构_MVP0.4.md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docs/03-系统架构_MVP0.4.md</a:t>
            </a:r>
          </a:p>
          <a:p xmlns:a="http://schemas.openxmlformats.org/drawingml/2006/main">
            <a:r>
              <a:t>server.py</a:t>
            </a:r>
          </a:p>
          <a:p xmlns:a="http://schemas.openxmlformats.org/drawingml/2006/main">
            <a:r>
              <a:t>research_store.py</a:t>
            </a:r>
          </a:p>
          <a:p xmlns:a="http://schemas.openxmlformats.org/drawingml/2006/main">
            <a:r>
              <a:t>snapshot_manager.py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docs/03-系统架构_MVP0.4.md</a:t>
            </a:r>
          </a:p>
          <a:p xmlns:a="http://schemas.openxmlformats.org/drawingml/2006/main">
            <a:r>
              <a:t>research_store.py</a:t>
            </a:r>
          </a:p>
          <a:p xmlns:a="http://schemas.openxmlformats.org/drawingml/2006/main">
            <a:r>
              <a:t>tests/test_research_workflow.py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data/published-snapshot.json</a:t>
            </a:r>
          </a:p>
          <a:p xmlns:a="http://schemas.openxmlformats.org/drawingml/2006/main">
            <a:r>
              <a:t>tests/test_research_workflow.py</a:t>
            </a:r>
          </a:p>
          <a:p xmlns:a="http://schemas.openxmlformats.org/drawingml/2006/main">
            <a:r>
              <a:t>evaluation/（25题正式问题集）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showcase/index.html</a:t>
            </a:r>
          </a:p>
          <a:p xmlns:a="http://schemas.openxmlformats.org/drawingml/2006/main">
            <a:r>
              <a:t>showcase/technical-report.html</a:t>
            </a:r>
          </a:p>
          <a:p xmlns:a="http://schemas.openxmlformats.org/drawingml/2006/main">
            <a:r>
              <a:t>deploy/公网比赛演示部署说明.md</a:t>
            </a:r>
          </a:p>
          <a:p xmlns:a="http://schemas.openxmlformats.org/drawingml/2006/main">
            <a:r>
              <a:t>deploy/Caddyfile.example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docs/05-预期成果_MVP0.4.md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https://tashan.ac.cn/homepage/aigc</a:t>
            </a:r>
          </a:p>
          <a:p xmlns:a="http://schemas.openxmlformats.org/drawingml/2006/main">
            <a:r>
              <a:t>https://github.com/UCSB-AI/EvoPresent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assets/hero-eclipse.png</a:t>
            </a:r>
          </a:p>
          <a:p xmlns:a="http://schemas.openxmlformats.org/drawingml/2006/main">
            <a:r>
              <a:t>参赛公网地址待配置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8b503b40a64d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57dfa43f2d4eff" /><Relationship Type="http://schemas.openxmlformats.org/officeDocument/2006/relationships/slideLayout" Target="/ppt/slideLayouts/slideLayout1.xml" Id="Re0a2f48ea17746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a2f48ea17746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5daf99a5a4e90" /><Relationship Type="http://schemas.openxmlformats.org/officeDocument/2006/relationships/image" Target="/ppt/media/image.png" Id="Raf08d263fb4a45a2" /><Relationship Type="http://schemas.openxmlformats.org/officeDocument/2006/relationships/notesSlide" Target="/ppt/notesSlides/notesSlide1.xml" Id="R4326d0c6df9b48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b24a11030416b" /><Relationship Type="http://schemas.openxmlformats.org/officeDocument/2006/relationships/notesSlide" Target="/ppt/notesSlides/notesSlide2.xml" Id="R4235a2b44e0f40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89a0790994fac" /><Relationship Type="http://schemas.openxmlformats.org/officeDocument/2006/relationships/notesSlide" Target="/ppt/notesSlides/notesSlide3.xml" Id="Rf8bdde65e6864d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e180def284d26" /><Relationship Type="http://schemas.openxmlformats.org/officeDocument/2006/relationships/notesSlide" Target="/ppt/notesSlides/notesSlide4.xml" Id="R0152822fca3c42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37a6f84cb48eb" /><Relationship Type="http://schemas.openxmlformats.org/officeDocument/2006/relationships/notesSlide" Target="/ppt/notesSlides/notesSlide5.xml" Id="Rbc2d3d714bdb45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7b7fe2c934752" /><Relationship Type="http://schemas.openxmlformats.org/officeDocument/2006/relationships/image" Target="/ppt/media/image2.png" Id="Rf09cbccfaee74225" /><Relationship Type="http://schemas.openxmlformats.org/officeDocument/2006/relationships/notesSlide" Target="/ppt/notesSlides/notesSlide6.xml" Id="R111d09f2a8594e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dd9df7a3e4349" /><Relationship Type="http://schemas.openxmlformats.org/officeDocument/2006/relationships/image" Target="/ppt/media/image3.png" Id="R7350285ae739450f" /><Relationship Type="http://schemas.openxmlformats.org/officeDocument/2006/relationships/notesSlide" Target="/ppt/notesSlides/notesSlide7.xml" Id="Ra229fb054a304c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115db79e34537" /><Relationship Type="http://schemas.openxmlformats.org/officeDocument/2006/relationships/notesSlide" Target="/ppt/notesSlides/notesSlide8.xml" Id="Rb143a03adf1b4f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a60b6c2d540a6" /><Relationship Type="http://schemas.openxmlformats.org/officeDocument/2006/relationships/notesSlide" Target="/ppt/notesSlides/notesSlide9.xml" Id="R16b9661de1be43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7dd107acf49d4" /><Relationship Type="http://schemas.openxmlformats.org/officeDocument/2006/relationships/notesSlide" Target="/ppt/notesSlides/notesSlide10.xml" Id="Rf6e6ca86a6a949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9a9d69e7e43fe" /><Relationship Type="http://schemas.openxmlformats.org/officeDocument/2006/relationships/notesSlide" Target="/ppt/notesSlides/notesSlide11.xml" Id="Rf07c751bc6674a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74ff1851343ee" /><Relationship Type="http://schemas.openxmlformats.org/officeDocument/2006/relationships/notesSlide" Target="/ppt/notesSlides/notesSlide12.xml" Id="Rc1271da8c25b4d4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26c40f9654544" /><Relationship Type="http://schemas.openxmlformats.org/officeDocument/2006/relationships/notesSlide" Target="/ppt/notesSlides/notesSlide13.xml" Id="Rfd2cc697e3cf47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69baf4af248a9" /><Relationship Type="http://schemas.openxmlformats.org/officeDocument/2006/relationships/notesSlide" Target="/ppt/notesSlides/notesSlide14.xml" Id="R320ddd613b09404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8e307d3374060" /><Relationship Type="http://schemas.openxmlformats.org/officeDocument/2006/relationships/notesSlide" Target="/ppt/notesSlides/notesSlide15.xml" Id="R262238dc501442b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8ac9485514d57" /><Relationship Type="http://schemas.openxmlformats.org/officeDocument/2006/relationships/image" Target="/ppt/media/image4.png" Id="R06ed162285a24126" /><Relationship Type="http://schemas.openxmlformats.org/officeDocument/2006/relationships/notesSlide" Target="/ppt/notesSlides/notesSlide16.xml" Id="R1ef346099ac24b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8d263fb4a45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B0761-F5F0-4C83-8228-6841D51D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2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13">
              <a:alpha val="8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C2D77-E3DA-4E44-BCDE-0344A5F9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rPr>
              <a:t>赛道三 · 科普科教与艺术表达 / 方向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22227-E504-4C34-8BC6-80C101AE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6572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6000" b="1">
                <a:solidFill>
                  <a:srgbClr val="FFFFFF"/>
                </a:solidFill>
                <a:latin typeface="STSong"/>
                <a:ea typeface="STSong"/>
                <a:cs typeface="STSong"/>
              </a:defRPr>
            </a:pPr>
            <a:r>
              <a:rPr sz="6000" b="1">
                <a:solidFill>
                  <a:srgbClr val="FFFFFF"/>
                </a:solidFill>
                <a:latin typeface="STSong"/>
                <a:ea typeface="STSong"/>
                <a:cs typeface="STSong"/>
              </a:rPr>
              <a:t>甲骨里的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6000" b="1">
                <a:solidFill>
                  <a:srgbClr val="FFFFFF"/>
                </a:solidFill>
                <a:latin typeface="STSong"/>
                <a:ea typeface="STSong"/>
                <a:cs typeface="STSong"/>
              </a:defRPr>
            </a:pPr>
            <a:r>
              <a:rPr sz="6000" b="1">
                <a:solidFill>
                  <a:srgbClr val="FFFFFF"/>
                </a:solidFill>
                <a:latin typeface="STSong"/>
                <a:ea typeface="STSong"/>
                <a:cs typeface="STSong"/>
              </a:rPr>
              <a:t>日光缺口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F64D9-0A62-4506-8EF8-EFAA5BC5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9E1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9E1DD"/>
                </a:solidFill>
                <a:latin typeface="Microsoft YaHei"/>
                <a:ea typeface="Microsoft YaHei"/>
                <a:cs typeface="Microsoft YaHei"/>
              </a:rPr>
              <a:t>基于 Qwen 的甲骨日食多元科学传播应用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3EDBB-D969-4D97-956E-FC1F0705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435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rPr>
              <a:t>科学事实准确 · 跨媒介表达 · 人机协作修正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0C6B4-2006-4040-8536-E27816AB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579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>
                <a:solidFill>
                  <a:srgbClr val="D8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D8D8D0"/>
                </a:solidFill>
                <a:latin typeface="Microsoft YaHei"/>
                <a:ea typeface="Microsoft YaHei"/>
                <a:cs typeface="Microsoft YaHei"/>
              </a:rPr>
              <a:t>传播插图 / 非甲骨原片</a:t>
            </a:r>
          </a:p>
        </p:txBody>
      </p:sp>
    </p:spTree>
    <p:extLst>
      <p:ext uri="{BB962C8B-B14F-4D97-AF65-F5344CB8AC3E}">
        <p14:creationId xmlns:p14="http://schemas.microsoft.com/office/powerpoint/2010/main" val="17028058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C45C69FB-95C2-4ED3-9B59-A8B642C9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rPr>
              <a:t>作品定位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87BE173-46CE-49A9-853D-3963B501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3375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不是一次性内容，而是一套可复用的科学传播应用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43282A5E-DFC7-4D5C-A7ED-4C0F5887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甲骨日食是首个高难度示范主题，应用能够把受控资料持续转化为三类艺术表达。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5478B-ED29-4C23-9597-B807FCB7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EF905-86FF-4110-A391-31F5142A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3181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25BE9-0DBB-4222-AEC5-BF58A3F0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3181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2100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经典期刊视觉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7281F-BFFD-4067-92B3-AAEA2443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3181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35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科普图卡、图文摘要、机制图、时间线与可编辑幻灯片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A61F6-8402-45ED-8950-967AE87D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765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E4BE6-75C6-4CC2-A034-A349F3BB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90900"/>
            <a:ext cx="3181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2D63B-FF18-40F1-B3E8-A34A7CE5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76650"/>
            <a:ext cx="3181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2100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数字交互体验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77791-F2EF-4A9F-B022-92724898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33875"/>
            <a:ext cx="3181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35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Three.js 日食场景、甲骨记录阅读与有依据问答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6DE5B-244E-437B-A233-D8A45278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765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1CF1BE-42E0-4406-BB62-61E26F48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90900"/>
            <a:ext cx="3181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B4B9A-B611-402F-9B9D-B140DEE2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76650"/>
            <a:ext cx="3181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2100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叙事动态艺术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4FEE5-D6EF-466A-9ACD-D3F8231B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33875"/>
            <a:ext cx="3181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35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音频导览、三分钟讲解稿、字幕与 1080P 演示视频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59AE9-DB3B-4A57-A89D-1686552A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ECA218-9F92-4716-942F-137EF3C2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赛道三 · 方向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F81B64-0367-4B99-BBB0-22DE4FA3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11873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741B8-47DC-429B-AB74-0789525B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81A32-AA8A-43FA-A633-71A0CB58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425" b="1">
                <a:solidFill>
                  <a:srgbClr val="F3EDDF"/>
                </a:solidFill>
                <a:latin typeface="STSong"/>
                <a:ea typeface="STSong"/>
                <a:cs typeface="STSong"/>
              </a:defRPr>
            </a:pPr>
            <a:r>
              <a:rPr sz="4425" b="1">
                <a:solidFill>
                  <a:srgbClr val="F3EDDF"/>
                </a:solidFill>
                <a:latin typeface="STSong"/>
                <a:ea typeface="STSong"/>
                <a:cs typeface="STSong"/>
              </a:rPr>
              <a:t>怎样让三千年前的天象记录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425" b="1">
                <a:solidFill>
                  <a:srgbClr val="F3EDDF"/>
                </a:solidFill>
                <a:latin typeface="STSong"/>
                <a:ea typeface="STSong"/>
                <a:cs typeface="STSong"/>
              </a:defRPr>
            </a:pPr>
            <a:r>
              <a:rPr sz="4425" b="1">
                <a:solidFill>
                  <a:srgbClr val="F3EDDF"/>
                </a:solidFill>
                <a:latin typeface="STSong"/>
                <a:ea typeface="STSong"/>
                <a:cs typeface="STSong"/>
              </a:rPr>
              <a:t>既看得懂，又经得起追问？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80A4C-4F35-4323-ADC3-921492E3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38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337B9-49D3-4BBF-852F-986ABD28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rPr>
              <a:t>传播需要直观、感染力与节奏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96B49-86E4-4915-8BC5-E4C383C6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74A9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4A99B"/>
                </a:solidFill>
                <a:latin typeface="Microsoft YaHei"/>
                <a:ea typeface="Microsoft YaHei"/>
                <a:cs typeface="Microsoft YaHei"/>
              </a:rPr>
              <a:t>研究需要页码、分歧与不确定性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A2855-4C42-4A0C-B29A-9C62A0D9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19525"/>
            <a:ext cx="4476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325" b="0">
                <a:solidFill>
                  <a:srgbClr val="F3EDDF"/>
                </a:solidFill>
                <a:latin typeface="STSong"/>
                <a:ea typeface="STSong"/>
                <a:cs typeface="STSong"/>
              </a:defRPr>
            </a:pPr>
            <a:r>
              <a:rPr sz="2325" b="0">
                <a:solidFill>
                  <a:srgbClr val="F3EDDF"/>
                </a:solidFill>
                <a:latin typeface="STSong"/>
                <a:ea typeface="STSong"/>
                <a:cs typeface="STSong"/>
              </a:rPr>
              <a:t>我们的工作，是让这两种要求在同一个产品里成立。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23DA6-24EE-4D4A-BF0B-CDD005A5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92EA5-8D09-4629-B5F2-47903D86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2C28B-85A9-45FA-8985-05CD19F7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43057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">
            <a:extLst xmlns:a="http://schemas.openxmlformats.org/drawingml/2006/main">
              <a:ext uri="{FF2B5EF4-FFF2-40B4-BE49-F238E27FC236}">
                <a16:creationId xmlns:a16="http://schemas.microsoft.com/office/drawing/2014/main" id="{4AC91AFE-39B1-4954-9E59-A6302568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rPr>
              <a:t>问题拆解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613C16A-EE46-42F6-99AE-DCC2B264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3375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一条“日食卜辞”，可能同时有五层不确定性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3799CF83-3F83-4E6F-BE40-F838F819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流畅的 AI 文本很容易掩盖证据不足，因此系统必须先处理材料质量和结论边界。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54D24-CE01-4581-B543-7BEFC507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F19D5-D222-42D0-9FF0-24A55FD0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051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1575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扫描质量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F14B6-A11E-4968-AE59-FD423EF4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图片页、乱码文字层与复杂版面会造成 OCR 漏识别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DE93C-2593-4534-8E9F-B13B5022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242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3C020-73A1-4D11-AE56-D998D6D3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E2037-6F2B-4712-810A-7CCFCCF5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1575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文字释读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8C817-2EB0-4192-989A-BD1A4279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147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残字和异体字可能存在多种读法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15C11-FC52-4E03-B427-F55711C0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3C815-1D10-4159-A864-239DB0FA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C921B-9519-427D-AFEF-E32BF717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1575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年代判断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3D061B-E8EC-4285-8E00-37265960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052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分期、干支与公元纪年对应并不唯一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32D8E-66E2-4BDA-A694-53AB5097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053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F18B8-49EF-45E8-A500-A50AB2C8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8E4ECA-BA0C-4130-8E53-40F7A4AE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1575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天文对应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B50480-5F7B-4BC5-B1C4-E0B951DA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958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地点、历法和行星历表共同约束可见日食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9089AF-934E-446E-BA25-B766E7A1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958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4DD45D-660E-4EF8-AE9B-C5D8A411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08C9B0-4546-4270-A0CB-FF28FDC2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1575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公众表达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39671E-0B55-491A-A7D4-F30D2F65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863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简明不能以抹去争议和证据等级为代价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814BA1-B3A3-4FA7-8F53-B5DEE061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86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D24945-1174-4EF4-B7E4-8484CD4A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09DB25-D197-4E42-860A-22DDC87E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赛道三 · 方向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359BE0-1012-4FCF-9D70-9D9A19A4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346621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">
            <a:extLst xmlns:a="http://schemas.openxmlformats.org/drawingml/2006/main">
              <a:ext uri="{FF2B5EF4-FFF2-40B4-BE49-F238E27FC236}">
                <a16:creationId xmlns:a16="http://schemas.microsoft.com/office/drawing/2014/main" id="{060682EC-44D4-4B5D-BEFD-6EB3094B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rPr>
              <a:t>解决思路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E3EB353-A90B-4B15-8BE9-14DABA34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3375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把生成放进一条可审阅、可修正、可发布的闭环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0A71E477-D2D6-4F86-977E-51F97BDF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资料先确认，模型再生成；内容先修正，公众端再发布。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21003-0940-4EE7-9A4B-F2BFFC51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3657600"/>
            <a:ext cx="114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FB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29782-355E-44EE-ACD2-C5CE3A1B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380" y="3657600"/>
            <a:ext cx="114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FB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0968F-EDCE-456D-AD3C-220D892E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657600"/>
            <a:ext cx="114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FB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264D4-4FCE-426A-B89B-CB1B88C9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3657600"/>
            <a:ext cx="114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FB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AA570-D822-4FBB-AB2C-3D696312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203454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2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2B3CB-87B8-4A14-A61F-1AE5C448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B4C63-3B5C-461E-8067-FEC08067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1575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资料汇入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E0198-C56B-4DAA-8D2A-1699EBC4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17297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PDF、网页与文本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77149-BD2B-432C-ADB8-405082C0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790" y="3009900"/>
            <a:ext cx="203454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ED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C3D64-7722-42C4-BC09-FA4AB484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162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ECEC3-E284-4F69-A152-FFBF0830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4861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1575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识别确认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E9B75-BC87-42B2-BF39-2EED4BD5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943350"/>
            <a:ext cx="17297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逐页 OCR 与原页校核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80A97A-8EBC-471E-A174-B29FA07F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0" y="3009900"/>
            <a:ext cx="203454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2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BDED5-B71B-4DF0-A441-0F8C4DDD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162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851D81-CFBB-4195-A136-D97A1F39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4861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1575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受控生成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05B38D-7FA2-467A-9A08-B3070DEA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943350"/>
            <a:ext cx="17297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问答与多模态草稿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B5D9C7-14A8-4328-B869-969DBB4E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3009900"/>
            <a:ext cx="203454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ED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666806-A455-4FAF-9C48-C25C1B7F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3162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46CEB4-36AF-447F-9F93-16D2E433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34861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1575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人工修正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6F2F14-1F6E-49BA-86FC-E82C79EB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3943350"/>
            <a:ext cx="17297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编辑、批准或驳回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DC21BA-EDB3-408F-9F0B-98D3145C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2610" y="3009900"/>
            <a:ext cx="203454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2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46EE57-FF06-4C13-8B8C-A5A39528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3162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AEED3D-7CF8-4556-B7C7-3F8ADA30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34861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1575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版本发布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50DD35-0066-414B-B389-99BEE5CA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3943350"/>
            <a:ext cx="17297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公众端稳定读取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D66602-C144-45AC-97F0-73F9D499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4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B2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23D2E"/>
                </a:solidFill>
                <a:latin typeface="Microsoft YaHei"/>
                <a:ea typeface="Microsoft YaHei"/>
                <a:cs typeface="Microsoft YaHei"/>
              </a:rPr>
              <a:t>模型输出不会自动回流为证据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7CCF90-F1DF-4984-8570-73BA8EBF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F88306-A323-4658-A277-5876D2D8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赛道三 · 方向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9CB892-0EBD-4EDA-8756-6A2F02F9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26744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EB9D4F8E-53C7-4FF2-9A1B-F435D9AC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rPr>
              <a:t>数字交互体验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A79DEB-3F08-466F-923C-2D37ED94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3EDDF"/>
                </a:solidFill>
                <a:latin typeface="STSong"/>
                <a:ea typeface="STSong"/>
                <a:cs typeface="STSong"/>
              </a:defRPr>
            </a:pPr>
            <a:r>
              <a:rPr sz="3375" b="1">
                <a:solidFill>
                  <a:srgbClr val="F3EDDF"/>
                </a:solidFill>
                <a:latin typeface="STSong"/>
                <a:ea typeface="STSong"/>
                <a:cs typeface="STSong"/>
              </a:rPr>
              <a:t>先让月影动起来，再解释为什么不是每月都有日食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84A774AA-3952-47B5-BC64-5899A2DF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B8C8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8C8C1"/>
                </a:solidFill>
                <a:latin typeface="Microsoft YaHei"/>
                <a:ea typeface="Microsoft YaHei"/>
                <a:cs typeface="Microsoft YaHei"/>
              </a:rPr>
              <a:t>公众可拖动视角、改变轨道偏角，并切换日全食、日环食和日偏食。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9cbccfaee74225"/>
          <a:srcRect xmlns:a="http://schemas.openxmlformats.org/drawingml/2006/main" l="0" t="14403" r="0" b="144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686050"/>
            <a:ext cx="6381750" cy="3028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8BF86-FF42-4B40-9FAD-C68008D5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2415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573FD-6A5D-4872-8388-281BD6A0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EFB64A"/>
                </a:solidFill>
                <a:latin typeface="STSong"/>
                <a:ea typeface="STSong"/>
                <a:cs typeface="STSong"/>
              </a:defRPr>
            </a:pPr>
            <a:r>
              <a:rPr sz="1800" b="1">
                <a:solidFill>
                  <a:srgbClr val="EFB64A"/>
                </a:solidFill>
                <a:latin typeface="STSong"/>
                <a:ea typeface="STSong"/>
                <a:cs typeface="STSong"/>
              </a:rPr>
              <a:t>拖动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49172-2C53-4161-96A0-AC4EAAFF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57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F3ED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3EDDF"/>
                </a:solidFill>
                <a:latin typeface="Microsoft YaHei"/>
                <a:ea typeface="Microsoft YaHei"/>
                <a:cs typeface="Microsoft YaHei"/>
              </a:rPr>
              <a:t>改变观察视角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8B8A7-BCA0-405C-BC63-B6C6762B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EFB64A"/>
                </a:solidFill>
                <a:latin typeface="STSong"/>
                <a:ea typeface="STSong"/>
                <a:cs typeface="STSong"/>
              </a:defRPr>
            </a:pPr>
            <a:r>
              <a:rPr sz="1800" b="1">
                <a:solidFill>
                  <a:srgbClr val="EFB64A"/>
                </a:solidFill>
                <a:latin typeface="STSong"/>
                <a:ea typeface="STSong"/>
                <a:cs typeface="STSong"/>
              </a:rPr>
              <a:t>调节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18988-FBE9-43B7-BD53-F069EAFD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33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F3ED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3EDDF"/>
                </a:solidFill>
                <a:latin typeface="Microsoft YaHei"/>
                <a:ea typeface="Microsoft YaHei"/>
                <a:cs typeface="Microsoft YaHei"/>
              </a:rPr>
              <a:t>观察月球偏离黄道面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65DB5-2B02-473D-8F5B-183FD678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91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EFB64A"/>
                </a:solidFill>
                <a:latin typeface="STSong"/>
                <a:ea typeface="STSong"/>
                <a:cs typeface="STSong"/>
              </a:defRPr>
            </a:pPr>
            <a:r>
              <a:rPr sz="1800" b="1">
                <a:solidFill>
                  <a:srgbClr val="EFB64A"/>
                </a:solidFill>
                <a:latin typeface="STSong"/>
                <a:ea typeface="STSong"/>
                <a:cs typeface="STSong"/>
              </a:rPr>
              <a:t>切换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37849-02D4-4D81-82C5-69AB6BBA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101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F3ED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3EDDF"/>
                </a:solidFill>
                <a:latin typeface="Microsoft YaHei"/>
                <a:ea typeface="Microsoft YaHei"/>
                <a:cs typeface="Microsoft YaHei"/>
              </a:rPr>
              <a:t>比较三种日食类型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97CAE-EA10-495A-ABBB-61694D88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10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4A9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4A99B"/>
                </a:solidFill>
                <a:latin typeface="Microsoft YaHei"/>
                <a:ea typeface="Microsoft YaHei"/>
                <a:cs typeface="Microsoft YaHei"/>
              </a:rPr>
              <a:t>公网地址部署后由二维码进入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B2B42-A5AD-4612-B2F2-B64D3EAB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C2457-D00D-466C-824C-09516284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数字交互与体验类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EBBB88-F461-4AAE-9560-B793D919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594717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5C8D4CBC-1C54-46E5-AA70-0D8BAC16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rPr>
              <a:t>证据阅读体验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F7B39E1-CE35-4CDC-A9AC-5A1A1CBB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3375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每一条记录都把“结论”与“争议”同时打开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A6EB0A40-39A2-4A93-98E5-D56B39A8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点击卜辞可展开基本释义、年代、学者观点与争议；多个条目可以同时比较。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0285ae739450f"/>
          <a:srcRect xmlns:a="http://schemas.openxmlformats.org/drawingml/2006/main" l="0" t="13333" r="0" b="1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647950"/>
            <a:ext cx="34290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B6F1E-34FB-46D4-93A7-E455B8B4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B23D2E"/>
                </a:solidFill>
                <a:latin typeface="STSong"/>
                <a:ea typeface="STSong"/>
                <a:cs typeface="STSong"/>
              </a:defRPr>
            </a:pPr>
            <a:r>
              <a:rPr sz="2400" b="1">
                <a:solidFill>
                  <a:srgbClr val="B23D2E"/>
                </a:solidFill>
                <a:latin typeface="STSong"/>
                <a:ea typeface="STSong"/>
                <a:cs typeface="STSong"/>
              </a:rPr>
              <a:t>癸酉贞，明有食，惟若。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4F90C-B19A-414F-A65D-4F3BC127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48050"/>
            <a:ext cx="6286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" indent="-20">
              <a:lnSpc>
                <a:spcPct val="122000"/>
              </a:lnSpc>
              <a:spcAft>
                <a:spcPts val="15"/>
              </a:spcAft>
              <a:buNone/>
              <a:defRPr sz="1425">
                <a:solidFill>
                  <a:srgbClr val="0717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71713"/>
                </a:solidFill>
                <a:latin typeface="Microsoft YaHei"/>
                <a:ea typeface="Microsoft YaHei"/>
                <a:cs typeface="Microsoft YaHei"/>
              </a:rPr>
              <a:t>释义：能确认什么，哪些字仍待复核</a:t>
            </a:r>
          </a:p>
          <a:p xmlns:a="http://schemas.openxmlformats.org/drawingml/2006/main">
            <a:pPr marL="25" indent="-20">
              <a:lnSpc>
                <a:spcPct val="122000"/>
              </a:lnSpc>
              <a:spcAft>
                <a:spcPts val="15"/>
              </a:spcAft>
              <a:buNone/>
              <a:defRPr sz="1425">
                <a:solidFill>
                  <a:srgbClr val="0717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71713"/>
                </a:solidFill>
                <a:latin typeface="Microsoft YaHei"/>
                <a:ea typeface="Microsoft YaHei"/>
                <a:cs typeface="Microsoft YaHei"/>
              </a:rPr>
              <a:t>年代：学者分期并列，不合并为单一答案</a:t>
            </a:r>
          </a:p>
          <a:p xmlns:a="http://schemas.openxmlformats.org/drawingml/2006/main">
            <a:pPr marL="25" indent="-20">
              <a:lnSpc>
                <a:spcPct val="122000"/>
              </a:lnSpc>
              <a:spcAft>
                <a:spcPts val="15"/>
              </a:spcAft>
              <a:buNone/>
              <a:defRPr sz="1425">
                <a:solidFill>
                  <a:srgbClr val="0717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71713"/>
                </a:solidFill>
                <a:latin typeface="Microsoft YaHei"/>
                <a:ea typeface="Microsoft YaHei"/>
                <a:cs typeface="Microsoft YaHei"/>
              </a:rPr>
              <a:t>观点：每项判断保留作者和来源页码</a:t>
            </a:r>
          </a:p>
          <a:p xmlns:a="http://schemas.openxmlformats.org/drawingml/2006/main">
            <a:pPr marL="25" indent="-20">
              <a:lnSpc>
                <a:spcPct val="122000"/>
              </a:lnSpc>
              <a:spcAft>
                <a:spcPts val="15"/>
              </a:spcAft>
              <a:buNone/>
              <a:defRPr sz="1425">
                <a:solidFill>
                  <a:srgbClr val="0717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71713"/>
                </a:solidFill>
                <a:latin typeface="Microsoft YaHei"/>
                <a:ea typeface="Microsoft YaHei"/>
                <a:cs typeface="Microsoft YaHei"/>
              </a:rPr>
              <a:t>争议：日食实录、预占与公元纪年对应分开表达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F3154-45BC-41AB-B860-0EA48234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传播插图 / 非甲骨原片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C21AB-5673-4BF9-9AFF-5D56513F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CFB6E-6332-4A89-A810-C6BBB42D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数字交互与体验类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0B3E4-64BF-4389-BC01-E6EF8CE6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927913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35A5520D-434F-490C-95F5-C6641A64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rPr>
              <a:t>多元艺术表达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979FDA4-0AB0-45F7-A112-5CF2913A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3375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同一组研究资料，可以转译为不同受众需要的作品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992FDAD6-FCF6-4DD4-8334-5A69569B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输出不是固定模板文件，而是可在线编辑、审核并再次生成的作品草稿。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70321-FB4B-47FE-A885-1642A106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BB473-35E7-40DC-9B79-ECAEFA4F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23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500" b="0">
                <a:solidFill>
                  <a:srgbClr val="B23D2E"/>
                </a:solidFill>
                <a:latin typeface="STSong"/>
                <a:ea typeface="STSong"/>
                <a:cs typeface="STSong"/>
              </a:defRPr>
            </a:pPr>
            <a:r>
              <a:rPr sz="4500" b="0">
                <a:solidFill>
                  <a:srgbClr val="B23D2E"/>
                </a:solidFill>
                <a:latin typeface="STSong"/>
                <a:ea typeface="STSong"/>
                <a:cs typeface="STSong"/>
              </a:rPr>
              <a:t>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98C1E-D3FD-4925-B051-704529C5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图卡 · 图文摘要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机制图 · 时间线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幻灯片 · 数据可视化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934F9-F744-4FF3-8A8A-1109D0CC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DB631-DDDE-4555-82E2-061AFA26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123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500" b="0">
                <a:solidFill>
                  <a:srgbClr val="276B5D"/>
                </a:solidFill>
                <a:latin typeface="STSong"/>
                <a:ea typeface="STSong"/>
                <a:cs typeface="STSong"/>
              </a:defRPr>
            </a:pPr>
            <a:r>
              <a:rPr sz="4500" b="0">
                <a:solidFill>
                  <a:srgbClr val="276B5D"/>
                </a:solidFill>
                <a:latin typeface="STSong"/>
                <a:ea typeface="STSong"/>
                <a:cs typeface="STSong"/>
              </a:rPr>
              <a:t>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C52A0-545F-4BF0-AF17-994955AB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大众讲解 · 学生版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研究者版 · 音频导览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三分钟讲解稿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DFD62-91C2-437F-83D1-E59826DD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81300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869B8-43BB-43B4-B5B2-699B4E09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43250"/>
            <a:ext cx="123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500" b="0">
                <a:solidFill>
                  <a:srgbClr val="EFB64A"/>
                </a:solidFill>
                <a:latin typeface="STSong"/>
                <a:ea typeface="STSong"/>
                <a:cs typeface="STSong"/>
              </a:defRPr>
            </a:pPr>
            <a:r>
              <a:rPr sz="4500" b="0">
                <a:solidFill>
                  <a:srgbClr val="EFB64A"/>
                </a:solidFill>
                <a:latin typeface="STSong"/>
                <a:ea typeface="STSong"/>
                <a:cs typeface="STSong"/>
              </a:rPr>
              <a:t>参与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7D329-313A-4F49-9F5C-DFFA0114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957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互动场景 · 资料问答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白板 · 思维导图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视频制作包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94495-BC43-4B43-BC04-F8A2DF07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EFE43D-245F-4874-9B43-FC3A2DAF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经典期刊视觉 · 叙事动态艺术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132F22-F28B-416A-B6B2-C94378C9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33297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">
            <a:extLst xmlns:a="http://schemas.openxmlformats.org/drawingml/2006/main">
              <a:ext uri="{FF2B5EF4-FFF2-40B4-BE49-F238E27FC236}">
                <a16:creationId xmlns:a16="http://schemas.microsoft.com/office/drawing/2014/main" id="{0F89162C-7F8E-476C-B20A-917BD4AE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rPr>
              <a:t>人机协作修正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E76CAC1-6F5E-450E-91D8-BD56722C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3EDDF"/>
                </a:solidFill>
                <a:latin typeface="STSong"/>
                <a:ea typeface="STSong"/>
                <a:cs typeface="STSong"/>
              </a:defRPr>
            </a:pPr>
            <a:r>
              <a:rPr sz="3375" b="1">
                <a:solidFill>
                  <a:srgbClr val="F3EDDF"/>
                </a:solidFill>
                <a:latin typeface="STSong"/>
                <a:ea typeface="STSong"/>
                <a:cs typeface="STSong"/>
              </a:rPr>
              <a:t>生成不是终点，反馈会推动下一版作品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8D1B7886-20A9-44FB-91C8-1BD56B95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B8C8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8C8C1"/>
                </a:solidFill>
                <a:latin typeface="Microsoft YaHei"/>
                <a:ea typeface="Microsoft YaHei"/>
                <a:cs typeface="Microsoft YaHei"/>
              </a:rPr>
              <a:t>应用把“发现不足—人工建议—再次生成—批准发布”做成可复用流程。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F4B1C-941C-4C7F-A13A-847423E9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3619500"/>
            <a:ext cx="114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FB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26BCB-AB1A-4C30-BA75-80076634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380" y="3619500"/>
            <a:ext cx="114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FB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1CF9B-AD43-4DEB-A10E-5C0D2F0C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619500"/>
            <a:ext cx="114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FB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564AA-796D-4418-ABB2-852BA6D6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3619500"/>
            <a:ext cx="114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FB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F06D0-D02E-44A2-BAE5-45343B45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203454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3"/>
          </a:solidFill>
          <a:ln xmlns:a="http://schemas.openxmlformats.org/drawingml/2006/main" w="9525">
            <a:solidFill>
              <a:srgbClr val="3151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51F9F-1A1F-483B-9F1C-742DEA10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80621-8D16-4429-9466-BD539983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3EDDF"/>
                </a:solidFill>
                <a:latin typeface="STSong"/>
                <a:ea typeface="STSong"/>
                <a:cs typeface="STSong"/>
              </a:defRPr>
            </a:pPr>
            <a:r>
              <a:rPr sz="1575" b="1">
                <a:solidFill>
                  <a:srgbClr val="F3EDDF"/>
                </a:solidFill>
                <a:latin typeface="STSong"/>
                <a:ea typeface="STSong"/>
                <a:cs typeface="STSong"/>
              </a:rPr>
              <a:t>选择资料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927EC-E651-4BAE-99FC-60D71023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7297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A9BD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DB5"/>
                </a:solidFill>
                <a:latin typeface="Microsoft YaHei"/>
                <a:ea typeface="Microsoft YaHei"/>
                <a:cs typeface="Microsoft YaHei"/>
              </a:rPr>
              <a:t>限定来源和页码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E3F58-67EE-499F-BA04-DBA3EAB4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790" y="2971800"/>
            <a:ext cx="203454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3"/>
          </a:solidFill>
          <a:ln xmlns:a="http://schemas.openxmlformats.org/drawingml/2006/main" w="9525">
            <a:solidFill>
              <a:srgbClr val="3151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DCCB3-6F74-426F-9C44-43E614E4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124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C0EB8-E612-44FA-9DAE-25458837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4480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3EDDF"/>
                </a:solidFill>
                <a:latin typeface="STSong"/>
                <a:ea typeface="STSong"/>
                <a:cs typeface="STSong"/>
              </a:defRPr>
            </a:pPr>
            <a:r>
              <a:rPr sz="1575" b="1">
                <a:solidFill>
                  <a:srgbClr val="F3EDDF"/>
                </a:solidFill>
                <a:latin typeface="STSong"/>
                <a:ea typeface="STSong"/>
                <a:cs typeface="STSong"/>
              </a:rPr>
              <a:t>生成草稿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BB074F-3B92-4633-8EC9-A1F21D64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905250"/>
            <a:ext cx="17297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A9BD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DB5"/>
                </a:solidFill>
                <a:latin typeface="Microsoft YaHei"/>
                <a:ea typeface="Microsoft YaHei"/>
                <a:cs typeface="Microsoft YaHei"/>
              </a:rPr>
              <a:t>记录模型与提示词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70323-54A9-4D35-ABA1-02CDC419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0" y="2971800"/>
            <a:ext cx="203454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3"/>
          </a:solidFill>
          <a:ln xmlns:a="http://schemas.openxmlformats.org/drawingml/2006/main" w="9525">
            <a:solidFill>
              <a:srgbClr val="31514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B965DE-4725-4547-AF29-12D3DFAA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124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3C919F-1A70-472B-ABC5-20261D57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4480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3EDDF"/>
                </a:solidFill>
                <a:latin typeface="STSong"/>
                <a:ea typeface="STSong"/>
                <a:cs typeface="STSong"/>
              </a:defRPr>
            </a:pPr>
            <a:r>
              <a:rPr sz="1575" b="1">
                <a:solidFill>
                  <a:srgbClr val="F3EDDF"/>
                </a:solidFill>
                <a:latin typeface="STSong"/>
                <a:ea typeface="STSong"/>
                <a:cs typeface="STSong"/>
              </a:rPr>
              <a:t>发现不足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9A1F06-C1EA-4CAF-A965-9E00ABB8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905250"/>
            <a:ext cx="17297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A9BD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DB5"/>
                </a:solidFill>
                <a:latin typeface="Microsoft YaHei"/>
                <a:ea typeface="Microsoft YaHei"/>
                <a:cs typeface="Microsoft YaHei"/>
              </a:rPr>
              <a:t>编辑、驳回或标注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128A8A-A485-494E-8345-0E0453DD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2971800"/>
            <a:ext cx="203454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3"/>
          </a:solidFill>
          <a:ln xmlns:a="http://schemas.openxmlformats.org/drawingml/2006/main" w="9525">
            <a:solidFill>
              <a:srgbClr val="31514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44932-9BD2-4053-AB0F-E007F0F6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3124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40F509-6053-4F39-8FB0-8EEBC00D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34480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3EDDF"/>
                </a:solidFill>
                <a:latin typeface="STSong"/>
                <a:ea typeface="STSong"/>
                <a:cs typeface="STSong"/>
              </a:defRPr>
            </a:pPr>
            <a:r>
              <a:rPr sz="1575" b="1">
                <a:solidFill>
                  <a:srgbClr val="F3EDDF"/>
                </a:solidFill>
                <a:latin typeface="STSong"/>
                <a:ea typeface="STSong"/>
                <a:cs typeface="STSong"/>
              </a:rPr>
              <a:t>再次修正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695C43-DBC7-47F1-9281-7F9A0C6A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3905250"/>
            <a:ext cx="17297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A9BD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DB5"/>
                </a:solidFill>
                <a:latin typeface="Microsoft YaHei"/>
                <a:ea typeface="Microsoft YaHei"/>
                <a:cs typeface="Microsoft YaHei"/>
              </a:rPr>
              <a:t>保留上一版与变更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838843-5668-41D0-872F-94BCB594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2610" y="2971800"/>
            <a:ext cx="203454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3"/>
          </a:solidFill>
          <a:ln xmlns:a="http://schemas.openxmlformats.org/drawingml/2006/main" w="9525">
            <a:solidFill>
              <a:srgbClr val="31514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A273B7-8D01-4FFF-926A-80D6A7BA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3124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9D7759-CBCF-4819-8754-A3AC5BB3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34480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3EDDF"/>
                </a:solidFill>
                <a:latin typeface="STSong"/>
                <a:ea typeface="STSong"/>
                <a:cs typeface="STSong"/>
              </a:defRPr>
            </a:pPr>
            <a:r>
              <a:rPr sz="1575" b="1">
                <a:solidFill>
                  <a:srgbClr val="F3EDDF"/>
                </a:solidFill>
                <a:latin typeface="STSong"/>
                <a:ea typeface="STSong"/>
                <a:cs typeface="STSong"/>
              </a:rPr>
              <a:t>批准发布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50B692-56B5-4CDB-8520-926CD881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3905250"/>
            <a:ext cx="17297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A9BD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DB5"/>
                </a:solidFill>
                <a:latin typeface="Microsoft YaHei"/>
                <a:ea typeface="Microsoft YaHei"/>
                <a:cs typeface="Microsoft YaHei"/>
              </a:rPr>
              <a:t>进入公众版本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983BD0-C9DA-427B-A645-A9B61854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6255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rPr>
              <a:t>来源更新后，依赖作品自动进入“需要重新复核”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826AF8-9845-42E9-9BB0-A86F8968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7AD1A1-23DD-41B4-8C03-C01E159B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方向 2 加分能力：生成后持续改进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4A585B-9B22-4F1E-B073-FB123415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012434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9FDC66AA-586D-4831-88E1-A64B2738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rPr>
              <a:t>AI 创作工作流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2555ECB-B7CB-47A3-A4D2-622DC382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3375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通用模型负责理解与生成，领域约束负责守住边界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B426BE74-9701-420A-A531-9F8FC1E5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项目没有自行训练基础模型，采用受控检索、结构化生成和人工审核。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4A4FC-51C9-43D5-AFA3-D76DC4D0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7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76B5D"/>
                </a:solidFill>
                <a:latin typeface="Microsoft YaHei"/>
                <a:ea typeface="Microsoft YaHei"/>
                <a:cs typeface="Microsoft YaHei"/>
              </a:rPr>
              <a:t>Qwen Plus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1CE39-784A-4DDD-A7A0-56209100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资料问答、结构化作品、受众转译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CC04D-046F-4B7E-B6DE-E7A1D8E4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7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76B5D"/>
                </a:solidFill>
                <a:latin typeface="Microsoft YaHei"/>
                <a:ea typeface="Microsoft YaHei"/>
                <a:cs typeface="Microsoft YaHei"/>
              </a:rPr>
              <a:t>Qwen VL OCR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89CA7-E6D6-49AD-A10E-A7260ED6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86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扫描论文识别与逐页重建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C404D-DA9B-4A3A-B3B2-5C67AEA6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7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76B5D"/>
                </a:solidFill>
                <a:latin typeface="Microsoft YaHei"/>
                <a:ea typeface="Microsoft YaHei"/>
                <a:cs typeface="Microsoft YaHei"/>
              </a:rPr>
              <a:t>Qwen TTS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CB751-E98A-495B-B854-2E30356A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48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审核前音频导览合成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C022E-973E-4B0F-AEC1-C44798BD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7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76B5D"/>
                </a:solidFill>
                <a:latin typeface="Microsoft YaHei"/>
                <a:ea typeface="Microsoft YaHei"/>
                <a:cs typeface="Microsoft YaHei"/>
              </a:rPr>
              <a:t>百炼文生图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2501D-7FA2-4BB9-BD64-8A742389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100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明确标注的传播插图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09717-36E4-418D-BE1F-5AFED5BA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7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76B5D"/>
                </a:solidFill>
                <a:latin typeface="Microsoft YaHei"/>
                <a:ea typeface="Microsoft YaHei"/>
                <a:cs typeface="Microsoft YaHei"/>
              </a:rPr>
              <a:t>Three.js / 本地导出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DBA17E-9965-464E-8572-DB6C8539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72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互动、PPTX、PNG、WAV、SRT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29705C-E0A7-44A8-92FC-C3BA1E60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28575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2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1FF3F-58AA-4242-8685-E6A7945B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48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B23D2E"/>
                </a:solidFill>
                <a:latin typeface="STSong"/>
                <a:ea typeface="STSong"/>
                <a:cs typeface="STSong"/>
              </a:defRPr>
            </a:pPr>
            <a:r>
              <a:rPr sz="1875" b="1">
                <a:solidFill>
                  <a:srgbClr val="B23D2E"/>
                </a:solidFill>
                <a:latin typeface="STSong"/>
                <a:ea typeface="STSong"/>
                <a:cs typeface="STSong"/>
              </a:rPr>
              <a:t>不做什么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EADF19-CADA-42F9-8C15-BD4A1C62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385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" indent="-20">
              <a:lnSpc>
                <a:spcPct val="122000"/>
              </a:lnSpc>
              <a:spcAft>
                <a:spcPts val="10"/>
              </a:spcAft>
              <a:buNone/>
              <a:defRPr sz="1200">
                <a:solidFill>
                  <a:srgbClr val="0717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71713"/>
                </a:solidFill>
                <a:latin typeface="Microsoft YaHei"/>
                <a:ea typeface="Microsoft YaHei"/>
                <a:cs typeface="Microsoft YaHei"/>
              </a:rPr>
              <a:t>不训练基础模型</a:t>
            </a:r>
          </a:p>
          <a:p xmlns:a="http://schemas.openxmlformats.org/drawingml/2006/main">
            <a:pPr marL="25" indent="-20">
              <a:lnSpc>
                <a:spcPct val="122000"/>
              </a:lnSpc>
              <a:spcAft>
                <a:spcPts val="10"/>
              </a:spcAft>
              <a:buNone/>
              <a:defRPr sz="1200">
                <a:solidFill>
                  <a:srgbClr val="0717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71713"/>
                </a:solidFill>
                <a:latin typeface="Microsoft YaHei"/>
                <a:ea typeface="Microsoft YaHei"/>
                <a:cs typeface="Microsoft YaHei"/>
              </a:rPr>
              <a:t>不把生成结果当证据</a:t>
            </a:r>
          </a:p>
          <a:p xmlns:a="http://schemas.openxmlformats.org/drawingml/2006/main">
            <a:pPr marL="25" indent="-20">
              <a:lnSpc>
                <a:spcPct val="122000"/>
              </a:lnSpc>
              <a:spcAft>
                <a:spcPts val="10"/>
              </a:spcAft>
              <a:buNone/>
              <a:defRPr sz="1200">
                <a:solidFill>
                  <a:srgbClr val="0717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71713"/>
                </a:solidFill>
                <a:latin typeface="Microsoft YaHei"/>
                <a:ea typeface="Microsoft YaHei"/>
                <a:cs typeface="Microsoft YaHei"/>
              </a:rPr>
              <a:t>不隐藏学术分歧</a:t>
            </a:r>
          </a:p>
          <a:p xmlns:a="http://schemas.openxmlformats.org/drawingml/2006/main">
            <a:pPr marL="25" indent="-20">
              <a:lnSpc>
                <a:spcPct val="122000"/>
              </a:lnSpc>
              <a:spcAft>
                <a:spcPts val="10"/>
              </a:spcAft>
              <a:buNone/>
              <a:defRPr sz="1200">
                <a:solidFill>
                  <a:srgbClr val="0717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71713"/>
                </a:solidFill>
                <a:latin typeface="Microsoft YaHei"/>
                <a:ea typeface="Microsoft YaHei"/>
                <a:cs typeface="Microsoft YaHei"/>
              </a:rPr>
              <a:t>不公开原始 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6E424F-CC09-41DC-97AF-D2AEABDD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675D5C-E663-45EA-BDA5-F1252A33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AI 工作流说明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9A30E9-5B93-45F1-9BA8-8C4D9266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852790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35B7F82F-7566-497A-A9D8-511CC56C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rPr>
              <a:t>应用技术架构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9AB7AC6-4689-4F7E-BEA0-91E8B0DB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3375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研究端形成可信内容，公众端只读取审核后的发布版本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4F85921B-5F61-4C4A-9F66-92EA7E6C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原始资料与公众体验彻底分层，既支持研究工作，也避免私有材料外泄。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97638-BADA-432B-A464-20BC0E42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4286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0"/>
          </a:solidFill>
          <a:ln xmlns:a="http://schemas.openxmlformats.org/drawingml/2006/main" w="19050">
            <a:solidFill>
              <a:srgbClr val="276B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34F3F-71B6-4DC8-B976-135C9A65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276B5D"/>
                </a:solidFill>
                <a:latin typeface="STSong"/>
                <a:ea typeface="STSong"/>
                <a:cs typeface="STSong"/>
              </a:defRPr>
            </a:pPr>
            <a:r>
              <a:rPr sz="2175" b="1">
                <a:solidFill>
                  <a:srgbClr val="276B5D"/>
                </a:solidFill>
                <a:latin typeface="STSong"/>
                <a:ea typeface="STSong"/>
                <a:cs typeface="STSong"/>
              </a:rPr>
              <a:t>私有研究工作台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E6072-DDE5-4448-B1BF-6D7E3320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2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PDF / OCR / 资料问答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2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作品生成 / 在线编辑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2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审核 / 版本管理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1BFE8-004C-4D3C-945F-33C9B495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38550"/>
            <a:ext cx="14478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FB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BE4C4-2C62-49E8-9D8F-D1920398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337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B2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23D2E"/>
                </a:solidFill>
                <a:latin typeface="Microsoft YaHei"/>
                <a:ea typeface="Microsoft YaHei"/>
                <a:cs typeface="Microsoft YaHei"/>
              </a:rPr>
              <a:t>审核发布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8C09B-45A4-4B1A-80D3-EE2E61D5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81300"/>
            <a:ext cx="4286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13"/>
          </a:solidFill>
          <a:ln xmlns:a="http://schemas.openxmlformats.org/drawingml/2006/main" w="0">
            <a:solidFill>
              <a:srgbClr val="07171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50323-1B93-406B-BA95-D0B3627E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051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EFB64A"/>
                </a:solidFill>
                <a:latin typeface="STSong"/>
                <a:ea typeface="STSong"/>
                <a:cs typeface="STSong"/>
              </a:defRPr>
            </a:pPr>
            <a:r>
              <a:rPr sz="2175" b="1">
                <a:solidFill>
                  <a:srgbClr val="EFB64A"/>
                </a:solidFill>
                <a:latin typeface="STSong"/>
                <a:ea typeface="STSong"/>
                <a:cs typeface="STSong"/>
              </a:rPr>
              <a:t>公众科普站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6FBF9-F9C3-4E5F-B94D-9A517BFC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3380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25" b="0">
                <a:solidFill>
                  <a:srgbClr val="F3ED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3EDDF"/>
                </a:solidFill>
                <a:latin typeface="Microsoft YaHei"/>
                <a:ea typeface="Microsoft YaHei"/>
                <a:cs typeface="Microsoft YaHei"/>
              </a:rPr>
              <a:t>Three.js 日食互动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25" b="0">
                <a:solidFill>
                  <a:srgbClr val="F3ED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3EDDF"/>
                </a:solidFill>
                <a:latin typeface="Microsoft YaHei"/>
                <a:ea typeface="Microsoft YaHei"/>
                <a:cs typeface="Microsoft YaHei"/>
              </a:rPr>
              <a:t>甲骨记录 / 公开作品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25" b="0">
                <a:solidFill>
                  <a:srgbClr val="F3ED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3EDDF"/>
                </a:solidFill>
                <a:latin typeface="Microsoft YaHei"/>
                <a:ea typeface="Microsoft YaHei"/>
                <a:cs typeface="Microsoft YaHei"/>
              </a:rPr>
              <a:t>有依据问答 / 研究来源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A25FE-23C1-46ED-BC96-AC423428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3340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B2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23D2E"/>
                </a:solidFill>
                <a:latin typeface="Microsoft YaHei"/>
                <a:ea typeface="Microsoft YaHei"/>
                <a:cs typeface="Microsoft YaHei"/>
              </a:rPr>
              <a:t>证据库 · 发布知识 · 作品库 · 来源关系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A5746-92D9-40A3-9332-7235F1B0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013A81-8646-4CD9-8544-4434708A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应用技术报告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16A92-3E28-47E1-A170-C6867DE6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786225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">
            <a:extLst xmlns:a="http://schemas.openxmlformats.org/drawingml/2006/main">
              <a:ext uri="{FF2B5EF4-FFF2-40B4-BE49-F238E27FC236}">
                <a16:creationId xmlns:a16="http://schemas.microsoft.com/office/drawing/2014/main" id="{18C0B62D-6260-4EE1-B8C2-A18D735F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rPr>
              <a:t>准确性机制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0AAB05F-34F3-4016-A785-F9619FD2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3EDDF"/>
                </a:solidFill>
                <a:latin typeface="STSong"/>
                <a:ea typeface="STSong"/>
                <a:cs typeface="STSong"/>
              </a:defRPr>
            </a:pPr>
            <a:r>
              <a:rPr sz="3375" b="1">
                <a:solidFill>
                  <a:srgbClr val="F3EDDF"/>
                </a:solidFill>
                <a:latin typeface="STSong"/>
                <a:ea typeface="STSong"/>
                <a:cs typeface="STSong"/>
              </a:rPr>
              <a:t>每一件作品都能回到资料、页码和审核记录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083B02A0-1758-4004-9553-AC6DA52A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B8C8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8C8C1"/>
                </a:solidFill>
                <a:latin typeface="Microsoft YaHei"/>
                <a:ea typeface="Microsoft YaHei"/>
                <a:cs typeface="Microsoft YaHei"/>
              </a:rPr>
              <a:t>准确不是一句提示词，而是贯穿资料、生成、修正和发布的来源关系。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6A414-DD0C-45BC-ACBB-3D970493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3657600"/>
            <a:ext cx="114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FB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F1916-064F-415C-A705-172116CD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380" y="3657600"/>
            <a:ext cx="114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FB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721AC-9AEE-4E5D-B2BA-2E93F9BD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657600"/>
            <a:ext cx="114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FB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6921D-384E-4265-AE22-5D65D145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3657600"/>
            <a:ext cx="114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FB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E3460-2C32-4D5E-AAAE-7B14E69A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203454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3"/>
          </a:solidFill>
          <a:ln xmlns:a="http://schemas.openxmlformats.org/drawingml/2006/main" w="9525">
            <a:solidFill>
              <a:srgbClr val="3151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41E47-0469-41C2-A487-8E2B9A59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5D239-C05C-4EB5-9583-71BB61BE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3EDDF"/>
                </a:solidFill>
                <a:latin typeface="STSong"/>
                <a:ea typeface="STSong"/>
                <a:cs typeface="STSong"/>
              </a:defRPr>
            </a:pPr>
            <a:r>
              <a:rPr sz="1575" b="1">
                <a:solidFill>
                  <a:srgbClr val="F3EDDF"/>
                </a:solidFill>
                <a:latin typeface="STSong"/>
                <a:ea typeface="STSong"/>
                <a:cs typeface="STSong"/>
              </a:rPr>
              <a:t>原始资料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59D62-E724-4C28-A5E7-295AAF11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17297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A9BD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DB5"/>
                </a:solidFill>
                <a:latin typeface="Microsoft YaHei"/>
                <a:ea typeface="Microsoft YaHei"/>
                <a:cs typeface="Microsoft YaHei"/>
              </a:rPr>
              <a:t>私有 PDF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84955-61B5-4384-8463-51BFFF86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790" y="3009900"/>
            <a:ext cx="203454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3"/>
          </a:solidFill>
          <a:ln xmlns:a="http://schemas.openxmlformats.org/drawingml/2006/main" w="9525">
            <a:solidFill>
              <a:srgbClr val="3151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27CD5F-E796-4C86-91F4-4C85E04C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162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FAB89-14A6-4068-B857-C06B1B30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4861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3EDDF"/>
                </a:solidFill>
                <a:latin typeface="STSong"/>
                <a:ea typeface="STSong"/>
                <a:cs typeface="STSong"/>
              </a:defRPr>
            </a:pPr>
            <a:r>
              <a:rPr sz="1575" b="1">
                <a:solidFill>
                  <a:srgbClr val="F3EDDF"/>
                </a:solidFill>
                <a:latin typeface="STSong"/>
                <a:ea typeface="STSong"/>
                <a:cs typeface="STSong"/>
              </a:rPr>
              <a:t>文本块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39123-F91B-486D-BEE3-BFB75736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943350"/>
            <a:ext cx="17297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A9BD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DB5"/>
                </a:solidFill>
                <a:latin typeface="Microsoft YaHei"/>
                <a:ea typeface="Microsoft YaHei"/>
                <a:cs typeface="Microsoft YaHei"/>
              </a:rPr>
              <a:t>页码与 OCR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8F12B7-4212-441C-A1DA-BBD0583B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0" y="3009900"/>
            <a:ext cx="203454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3"/>
          </a:solidFill>
          <a:ln xmlns:a="http://schemas.openxmlformats.org/drawingml/2006/main" w="9525">
            <a:solidFill>
              <a:srgbClr val="31514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B7FBB0-2108-4877-9A49-2EF5AE02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162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4EF5BA-581C-4DC5-A6B1-0C3642E7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4861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3EDDF"/>
                </a:solidFill>
                <a:latin typeface="STSong"/>
                <a:ea typeface="STSong"/>
                <a:cs typeface="STSong"/>
              </a:defRPr>
            </a:pPr>
            <a:r>
              <a:rPr sz="1575" b="1">
                <a:solidFill>
                  <a:srgbClr val="F3EDDF"/>
                </a:solidFill>
                <a:latin typeface="STSong"/>
                <a:ea typeface="STSong"/>
                <a:cs typeface="STSong"/>
              </a:rPr>
              <a:t>生成草稿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F06A7E-5914-41EE-A2DD-8275F242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943350"/>
            <a:ext cx="17297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A9BD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DB5"/>
                </a:solidFill>
                <a:latin typeface="Microsoft YaHei"/>
                <a:ea typeface="Microsoft YaHei"/>
                <a:cs typeface="Microsoft YaHei"/>
              </a:rPr>
              <a:t>模型与提示词版本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20D4F3-34FE-423E-BD98-266F0D15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3009900"/>
            <a:ext cx="203454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3"/>
          </a:solidFill>
          <a:ln xmlns:a="http://schemas.openxmlformats.org/drawingml/2006/main" w="9525">
            <a:solidFill>
              <a:srgbClr val="31514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0FE3FE-3F21-4AC4-9DD9-D572C9B9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3162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6E1B46-335A-44FC-93DD-BA70930F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34861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3EDDF"/>
                </a:solidFill>
                <a:latin typeface="STSong"/>
                <a:ea typeface="STSong"/>
                <a:cs typeface="STSong"/>
              </a:defRPr>
            </a:pPr>
            <a:r>
              <a:rPr sz="1575" b="1">
                <a:solidFill>
                  <a:srgbClr val="F3EDDF"/>
                </a:solidFill>
                <a:latin typeface="STSong"/>
                <a:ea typeface="STSong"/>
                <a:cs typeface="STSong"/>
              </a:rPr>
              <a:t>人工审核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1B6584-7D7B-4A7D-91A1-E39C5651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3943350"/>
            <a:ext cx="17297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A9BD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DB5"/>
                </a:solidFill>
                <a:latin typeface="Microsoft YaHei"/>
                <a:ea typeface="Microsoft YaHei"/>
                <a:cs typeface="Microsoft YaHei"/>
              </a:rPr>
              <a:t>批准 / 驳回 / 修改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CE4B97-3AF7-4F3C-902E-7466E063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2610" y="3009900"/>
            <a:ext cx="203454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3"/>
          </a:solidFill>
          <a:ln xmlns:a="http://schemas.openxmlformats.org/drawingml/2006/main" w="9525">
            <a:solidFill>
              <a:srgbClr val="31514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62585B-D546-49AB-B528-8FD8A881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3162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0D01CC-4F4A-42BE-955F-75970D7D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34861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3EDDF"/>
                </a:solidFill>
                <a:latin typeface="STSong"/>
                <a:ea typeface="STSong"/>
                <a:cs typeface="STSong"/>
              </a:defRPr>
            </a:pPr>
            <a:r>
              <a:rPr sz="1575" b="1">
                <a:solidFill>
                  <a:srgbClr val="F3EDDF"/>
                </a:solidFill>
                <a:latin typeface="STSong"/>
                <a:ea typeface="STSong"/>
                <a:cs typeface="STSong"/>
              </a:rPr>
              <a:t>公众作品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6EEA76-5ED0-4897-93D8-778E4E2C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3943350"/>
            <a:ext cx="17297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A9BD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DB5"/>
                </a:solidFill>
                <a:latin typeface="Microsoft YaHei"/>
                <a:ea typeface="Microsoft YaHei"/>
                <a:cs typeface="Microsoft YaHei"/>
              </a:rPr>
              <a:t>当前发布版本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BE16C2-08DF-438A-841E-C9FACE00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143500"/>
            <a:ext cx="727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74A9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4A99B"/>
                </a:solidFill>
                <a:latin typeface="Microsoft YaHei"/>
                <a:ea typeface="Microsoft YaHei"/>
                <a:cs typeface="Microsoft YaHei"/>
              </a:rPr>
              <a:t>资料删除或重新解析 → 依赖作品失效 → 必须重新复核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6F8E2F-EEE5-4FE9-9B9D-690A2521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B26FA5-6638-41E4-86CC-22093314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科学事实准确性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517DCA-BE47-4936-B1D0-D413445F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918825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CCAF21E0-F14C-47DE-8936-81422F05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rPr>
              <a:t>实现效果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D284D05-36AC-4FF3-A8F3-D0E6E113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3375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首期闭环已经跑通，范围保持在 7 篇核心资料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CA4FB81C-E7A7-42A1-93AB-4D1DEDBB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以下数字来自当前发布版本和自动化测试，不包含尚未完成的专家签署与真实用户测试。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64539-3A8F-4C8B-BD59-66706E9B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350" b="0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7 /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64634-37CC-457C-A447-74982E3B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核心论文已确认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6BBA5-5427-48A1-AFC9-B38CF2D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350" b="0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5E70F-17BF-4042-8D9C-EAEC4BAE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页 OCR 与原页关联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A3608-0109-4DE1-8D4A-060298BD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4325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350" b="0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6DAA5-3F6B-4564-8A38-A3B1E8F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67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类可复用输出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1285C-F4A9-4B25-9FBC-DD0F3B77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4325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350" b="0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5EFA0-6084-4DE1-9088-80629CCC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67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件当前公开作品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A5C44-6D42-4DFD-A321-45A84B7C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350" b="0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72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14C0FB-407C-4B2F-9417-B03ABF4F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67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项自动化测试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FD695F-99BD-4D56-BBCD-6D473735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17C9D5-E52E-4FCC-A103-2CC0A1DF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7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76B5D"/>
                </a:solidFill>
                <a:latin typeface="Microsoft YaHei"/>
                <a:ea typeface="Microsoft YaHei"/>
                <a:cs typeface="Microsoft YaHei"/>
              </a:rPr>
              <a:t>25 题百炼正式问题集已完成首轮评测；发现的问题进入修复与复跑，而不是被隐藏。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15969-9860-45E5-BB51-BBBB2AAA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D76A3D-E2C3-4408-903D-38B79D26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实现效果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64B6C-B854-4DFA-A1A1-04A5FEC4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013341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790E9B84-098B-4CE7-9A19-58B72F9D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rPr>
              <a:t>作品与源码入口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D104266-85D2-411E-BAFA-02C1CAE8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3375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一个公网入口集中核对互动、视频、技术报告和源码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5EEDE511-54F5-44B5-A012-B1C08450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最终提交前只需在“参赛链接配置.json”写入三个正式 URL，再重新导出即可生成二维码版本。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CECA7-AC89-483A-BA19-DF31D3D4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3333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13335">
            <a:solidFill>
              <a:srgbClr val="D8D0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EB025-1A46-44D1-8A79-531B119F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B1151-E372-4895-BF72-EEE35194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待配置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F220A-8643-4111-A05D-79FFCE06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0861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1500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互动演示站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9CB7E-EEFC-4767-8608-8510582C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2425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提交前写入正式 URL 并生成二维码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A03A9-D0EF-46EE-8E1D-10A6B07B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76550"/>
            <a:ext cx="3333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13335">
            <a:solidFill>
              <a:srgbClr val="D8D0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01BDE-4B65-4A48-AA1B-9739E24B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A7F91-965A-4F8E-A384-491CD576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待配置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17A9B-0DD7-414B-A277-A22565EB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1500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1080P 演示视频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2AF46-5F2F-4494-BF4F-3438DB24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2425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提交前写入正式 URL 并生成二维码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D7E49F-CA0B-49E8-9B44-5DD019FE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76550"/>
            <a:ext cx="3333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13335">
            <a:solidFill>
              <a:srgbClr val="D8D0B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32FB0-69C6-4119-B7CB-DEE2A881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2895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E5DFA-269A-4DF0-B38A-A1687259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待配置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E87309-A1A6-484F-A6EA-700133CA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861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1500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源码仓库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2CB61B-C20D-4812-A919-9F671C24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2425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提交前写入正式 URL 并生成二维码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203605-64D6-463B-9FBC-ADE68192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27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6B5D"/>
                </a:solidFill>
                <a:latin typeface="Microsoft YaHei"/>
                <a:ea typeface="Microsoft YaHei"/>
                <a:cs typeface="Microsoft YaHei"/>
              </a:rPr>
              <a:t>技术报告：部署后与参赛入口同域发布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D2BF1-D5EF-4EDC-89F3-5BDE8589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B2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3D2E"/>
                </a:solidFill>
                <a:latin typeface="Microsoft YaHei"/>
                <a:ea typeface="Microsoft YaHei"/>
                <a:cs typeface="Microsoft YaHei"/>
              </a:rPr>
              <a:t>公网只开放公众站、参赛入口和登录页；原始 PDF、数据库、密钥与草稿保持私有。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D7DF89-0F87-4FF8-BC98-D95EB661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E6957B-7370-4297-8C51-282D8080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链接 · 二维码 · 源码 · 技术报告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D19EE7-F11C-4BCA-B7EE-F9FE0C5A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356501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DE3FD556-BD84-46FE-9352-1EF35108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rPr>
              <a:t>科研价值与应用场景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90996EB-BEFA-4DB4-BF97-66FD6DBC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071713"/>
                </a:solidFill>
                <a:latin typeface="STSong"/>
                <a:ea typeface="STSong"/>
                <a:cs typeface="STSong"/>
              </a:defRPr>
            </a:pPr>
            <a:r>
              <a:rPr sz="3375" b="1">
                <a:solidFill>
                  <a:srgbClr val="071713"/>
                </a:solidFill>
                <a:latin typeface="STSong"/>
                <a:ea typeface="STSong"/>
                <a:cs typeface="STSong"/>
              </a:rPr>
              <a:t>一次甲骨日食示范，验证文化遗产科学传播的通用方法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AC95D6E9-78CA-4BE4-92C6-C3292846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方法可迁移，但首期不扩张成通用 NotebookLM 替代产品。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E128F-A5F0-464C-A236-AD7B2819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B23D2E"/>
                </a:solidFill>
                <a:latin typeface="STSong"/>
                <a:ea typeface="STSong"/>
                <a:cs typeface="STSong"/>
              </a:defRPr>
            </a:pPr>
            <a:r>
              <a:rPr sz="2025" b="1">
                <a:solidFill>
                  <a:srgbClr val="B23D2E"/>
                </a:solidFill>
                <a:latin typeface="STSong"/>
                <a:ea typeface="STSong"/>
                <a:cs typeface="STSong"/>
              </a:rPr>
              <a:t>博物馆展陈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09331-7510-4B6E-8E55-AC4AA27D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76550"/>
            <a:ext cx="2609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可交互机制与证据阅读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A8BDC-C7AA-4BA0-926D-990DCCC1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DF165-7F25-472C-B0BB-C06E8A70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384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276B5D"/>
                </a:solidFill>
                <a:latin typeface="STSong"/>
                <a:ea typeface="STSong"/>
                <a:cs typeface="STSong"/>
              </a:defRPr>
            </a:pPr>
            <a:r>
              <a:rPr sz="2025" b="1">
                <a:solidFill>
                  <a:srgbClr val="276B5D"/>
                </a:solidFill>
                <a:latin typeface="STSong"/>
                <a:ea typeface="STSong"/>
                <a:cs typeface="STSong"/>
              </a:rPr>
              <a:t>跨学科课堂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84CAC-5D8E-41D0-A464-93314543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76550"/>
            <a:ext cx="2609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古文字、历史与天文学协同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99BF2-C12B-4CE6-9646-2316126C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766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423D8-DCE0-49CA-BDAA-B312AD77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B23D2E"/>
                </a:solidFill>
                <a:latin typeface="STSong"/>
                <a:ea typeface="STSong"/>
                <a:cs typeface="STSong"/>
              </a:defRPr>
            </a:pPr>
            <a:r>
              <a:rPr sz="2025" b="1">
                <a:solidFill>
                  <a:srgbClr val="B23D2E"/>
                </a:solidFill>
                <a:latin typeface="STSong"/>
                <a:ea typeface="STSong"/>
                <a:cs typeface="STSong"/>
              </a:rPr>
              <a:t>科研展示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B2DE0-9BC0-499A-A583-51009A0F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29100"/>
            <a:ext cx="2609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论文到图卡、幻灯片和视频脚本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A7072-AEED-4752-BEC7-C91065C6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AE895-9684-44EE-901D-D5A3318F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91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276B5D"/>
                </a:solidFill>
                <a:latin typeface="STSong"/>
                <a:ea typeface="STSong"/>
                <a:cs typeface="STSong"/>
              </a:defRPr>
            </a:pPr>
            <a:r>
              <a:rPr sz="2025" b="1">
                <a:solidFill>
                  <a:srgbClr val="276B5D"/>
                </a:solidFill>
                <a:latin typeface="STSong"/>
                <a:ea typeface="STSong"/>
                <a:cs typeface="STSong"/>
              </a:rPr>
              <a:t>长期科普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926E71-2EFC-4CE9-869B-07A5B5F6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29100"/>
            <a:ext cx="2609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资料更新后触发作品复核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69130B-2708-46B3-A2DB-B79AF47C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292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3D36BB-069D-4FA5-9399-4A9A65B3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12DED4-87D8-453E-B603-83F8B9CA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5D"/>
                </a:solidFill>
                <a:latin typeface="Microsoft YaHei"/>
                <a:ea typeface="Microsoft YaHei"/>
                <a:cs typeface="Microsoft YaHei"/>
              </a:rPr>
              <a:t>科研价值 · 未来应用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1BDDB1-26B4-4F95-B61A-A77BDB8B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B23D2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B23D2E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992086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d162285a24126"/>
          <a:srcRect xmlns:a="http://schemas.openxmlformats.org/drawingml/2006/main" l="28125" t="0" r="28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8FACF-DBBB-4E46-81F5-317EE7F3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228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13">
              <a:alpha val="8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7AF94-080C-41C4-8A10-1820DA42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666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4050" b="1">
                <a:solidFill>
                  <a:srgbClr val="F3EDDF"/>
                </a:solidFill>
                <a:latin typeface="STSong"/>
                <a:ea typeface="STSong"/>
                <a:cs typeface="STSong"/>
              </a:defRPr>
            </a:pPr>
            <a:r>
              <a:rPr sz="4050" b="1">
                <a:solidFill>
                  <a:srgbClr val="F3EDDF"/>
                </a:solidFill>
                <a:latin typeface="STSong"/>
                <a:ea typeface="STSong"/>
                <a:cs typeface="STSong"/>
              </a:rPr>
              <a:t>让三千年前的仰望，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4050" b="1">
                <a:solidFill>
                  <a:srgbClr val="F3EDDF"/>
                </a:solidFill>
                <a:latin typeface="STSong"/>
                <a:ea typeface="STSong"/>
                <a:cs typeface="STSong"/>
              </a:defRPr>
            </a:pPr>
            <a:r>
              <a:rPr sz="4050" b="1">
                <a:solidFill>
                  <a:srgbClr val="F3EDDF"/>
                </a:solidFill>
                <a:latin typeface="STSong"/>
                <a:ea typeface="STSong"/>
                <a:cs typeface="STSong"/>
              </a:rPr>
              <a:t>成为今天可以理解、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4050" b="1">
                <a:solidFill>
                  <a:srgbClr val="F3EDDF"/>
                </a:solidFill>
                <a:latin typeface="STSong"/>
                <a:ea typeface="STSong"/>
                <a:cs typeface="STSong"/>
              </a:defRPr>
            </a:pPr>
            <a:r>
              <a:rPr sz="4050" b="1">
                <a:solidFill>
                  <a:srgbClr val="F3EDDF"/>
                </a:solidFill>
                <a:latin typeface="STSong"/>
                <a:ea typeface="STSong"/>
                <a:cs typeface="STSong"/>
              </a:rPr>
              <a:t>体验和核验的知识。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219DA-99D5-4266-9A2B-DCF8EE3A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FB64A"/>
                </a:solidFill>
                <a:latin typeface="Microsoft YaHei"/>
                <a:ea typeface="Microsoft YaHei"/>
                <a:cs typeface="Microsoft YaHei"/>
              </a:rPr>
              <a:t>甲骨里的日光缺口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179D1-B53B-448F-9B73-D2732EAD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74A9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4A99B"/>
                </a:solidFill>
                <a:latin typeface="Microsoft YaHei"/>
                <a:ea typeface="Microsoft YaHei"/>
                <a:cs typeface="Microsoft YaHei"/>
              </a:rPr>
              <a:t>正式公网地址与二维码将在部署后写入最终提交版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B194E-7929-47C1-BEDC-44D6F19F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770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>
                <a:solidFill>
                  <a:srgbClr val="D8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D8D8D0"/>
                </a:solidFill>
                <a:latin typeface="Microsoft YaHei"/>
                <a:ea typeface="Microsoft YaHei"/>
                <a:cs typeface="Microsoft YaHei"/>
              </a:rPr>
              <a:t>传播插图 / 非甲骨原片</a:t>
            </a:r>
          </a:p>
        </p:txBody>
      </p:sp>
    </p:spTree>
    <p:extLst>
      <p:ext uri="{BB962C8B-B14F-4D97-AF65-F5344CB8AC3E}">
        <p14:creationId xmlns:p14="http://schemas.microsoft.com/office/powerpoint/2010/main" val="16079174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2026-07-26T02:07:29.6580000Z</dcterms:created>
  <dcterms:modified xsi:type="dcterms:W3CDTF">2026-07-26T02:07:29.6580000Z</dcterms:modified>
</coreProperties>
</file>